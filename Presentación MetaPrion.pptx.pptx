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Cy Grotesk Key Bold" charset="1" panose="00000800000000000000"/>
      <p:regular r:id="rId35"/>
    </p:embeddedFont>
    <p:embeddedFont>
      <p:font typeface="Cy Grotesk Key" charset="1" panose="00000500000000000000"/>
      <p:regular r:id="rId36"/>
    </p:embeddedFont>
    <p:embeddedFont>
      <p:font typeface="Cy Grotesk Wide" charset="1" panose="00000505000000000000"/>
      <p:regular r:id="rId37"/>
    </p:embeddedFont>
    <p:embeddedFont>
      <p:font typeface="Calibri (MS)" charset="1" panose="020F050202020403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sp>
        <p:nvSpPr>
          <p:cNvPr name="TextBox 2" id="2"/>
          <p:cNvSpPr txBox="true"/>
          <p:nvPr/>
        </p:nvSpPr>
        <p:spPr>
          <a:xfrm rot="0">
            <a:off x="1705096" y="4386324"/>
            <a:ext cx="14877808" cy="1569146"/>
          </a:xfrm>
          <a:prstGeom prst="rect">
            <a:avLst/>
          </a:prstGeom>
        </p:spPr>
        <p:txBody>
          <a:bodyPr anchor="t" rtlCol="false" tIns="0" lIns="0" bIns="0" rIns="0">
            <a:spAutoFit/>
          </a:bodyPr>
          <a:lstStyle/>
          <a:p>
            <a:pPr algn="ctr">
              <a:lnSpc>
                <a:spcPts val="12984"/>
              </a:lnSpc>
            </a:pPr>
            <a:r>
              <a:rPr lang="en-US" b="true" sz="11804" spc="-305">
                <a:solidFill>
                  <a:srgbClr val="292727"/>
                </a:solidFill>
                <a:latin typeface="Cy Grotesk Key Bold"/>
                <a:ea typeface="Cy Grotesk Key Bold"/>
                <a:cs typeface="Cy Grotesk Key Bold"/>
                <a:sym typeface="Cy Grotesk Key Bold"/>
              </a:rPr>
              <a:t>MetaPrion</a:t>
            </a:r>
          </a:p>
        </p:txBody>
      </p:sp>
      <p:grpSp>
        <p:nvGrpSpPr>
          <p:cNvPr name="Group 3" id="3"/>
          <p:cNvGrpSpPr/>
          <p:nvPr/>
        </p:nvGrpSpPr>
        <p:grpSpPr>
          <a:xfrm rot="0">
            <a:off x="-175272" y="1014412"/>
            <a:ext cx="18468035" cy="9525"/>
            <a:chOff x="0" y="0"/>
            <a:chExt cx="24624047" cy="12700"/>
          </a:xfrm>
        </p:grpSpPr>
        <p:sp>
          <p:nvSpPr>
            <p:cNvPr name="Freeform 4" id="4"/>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5" id="5"/>
          <p:cNvGrpSpPr/>
          <p:nvPr/>
        </p:nvGrpSpPr>
        <p:grpSpPr>
          <a:xfrm rot="0">
            <a:off x="-175272" y="9253538"/>
            <a:ext cx="18468035" cy="9525"/>
            <a:chOff x="0" y="0"/>
            <a:chExt cx="24624047" cy="12700"/>
          </a:xfrm>
        </p:grpSpPr>
        <p:sp>
          <p:nvSpPr>
            <p:cNvPr name="Freeform 6" id="6"/>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7" id="7"/>
          <p:cNvGrpSpPr/>
          <p:nvPr/>
        </p:nvGrpSpPr>
        <p:grpSpPr>
          <a:xfrm rot="-5400000">
            <a:off x="11942919" y="5133976"/>
            <a:ext cx="10296525" cy="9525"/>
            <a:chOff x="0" y="0"/>
            <a:chExt cx="13728700" cy="12700"/>
          </a:xfrm>
        </p:grpSpPr>
        <p:sp>
          <p:nvSpPr>
            <p:cNvPr name="Freeform 8" id="8"/>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9" id="9"/>
          <p:cNvGrpSpPr/>
          <p:nvPr/>
        </p:nvGrpSpPr>
        <p:grpSpPr>
          <a:xfrm rot="-5400000">
            <a:off x="-4114800" y="5133975"/>
            <a:ext cx="10296525" cy="9525"/>
            <a:chOff x="0" y="0"/>
            <a:chExt cx="13728700" cy="12700"/>
          </a:xfrm>
        </p:grpSpPr>
        <p:sp>
          <p:nvSpPr>
            <p:cNvPr name="Freeform 10" id="10"/>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sp>
        <p:nvSpPr>
          <p:cNvPr name="TextBox 11" id="11"/>
          <p:cNvSpPr txBox="true"/>
          <p:nvPr/>
        </p:nvSpPr>
        <p:spPr>
          <a:xfrm rot="0">
            <a:off x="2880400" y="2237690"/>
            <a:ext cx="12527201" cy="469773"/>
          </a:xfrm>
          <a:prstGeom prst="rect">
            <a:avLst/>
          </a:prstGeom>
        </p:spPr>
        <p:txBody>
          <a:bodyPr anchor="t" rtlCol="false" tIns="0" lIns="0" bIns="0" rIns="0">
            <a:spAutoFit/>
          </a:bodyPr>
          <a:lstStyle/>
          <a:p>
            <a:pPr algn="ctr">
              <a:lnSpc>
                <a:spcPts val="3996"/>
              </a:lnSpc>
            </a:pPr>
            <a:r>
              <a:rPr lang="en-US" sz="3600" spc="68">
                <a:solidFill>
                  <a:srgbClr val="292727"/>
                </a:solidFill>
                <a:latin typeface="Cy Grotesk Key"/>
                <a:ea typeface="Cy Grotesk Key"/>
                <a:cs typeface="Cy Grotesk Key"/>
                <a:sym typeface="Cy Grotesk Key"/>
              </a:rPr>
              <a:t>UNIVERSIDAD DE GUADALAJARA</a:t>
            </a:r>
          </a:p>
        </p:txBody>
      </p:sp>
      <p:sp>
        <p:nvSpPr>
          <p:cNvPr name="TextBox 12" id="12"/>
          <p:cNvSpPr txBox="true"/>
          <p:nvPr/>
        </p:nvSpPr>
        <p:spPr>
          <a:xfrm rot="0">
            <a:off x="6628283" y="6677480"/>
            <a:ext cx="5031434" cy="358934"/>
          </a:xfrm>
          <a:prstGeom prst="rect">
            <a:avLst/>
          </a:prstGeom>
        </p:spPr>
        <p:txBody>
          <a:bodyPr anchor="t" rtlCol="false" tIns="0" lIns="0" bIns="0" rIns="0">
            <a:spAutoFit/>
          </a:bodyPr>
          <a:lstStyle/>
          <a:p>
            <a:pPr algn="ctr">
              <a:lnSpc>
                <a:spcPts val="2658"/>
              </a:lnSpc>
            </a:pPr>
            <a:r>
              <a:rPr lang="en-US" sz="2000">
                <a:solidFill>
                  <a:srgbClr val="292727"/>
                </a:solidFill>
                <a:latin typeface="Cy Grotesk Key"/>
                <a:ea typeface="Cy Grotesk Key"/>
                <a:cs typeface="Cy Grotesk Key"/>
                <a:sym typeface="Cy Grotesk Key"/>
              </a:rPr>
              <a:t>Presentan</a:t>
            </a:r>
          </a:p>
        </p:txBody>
      </p:sp>
      <p:sp>
        <p:nvSpPr>
          <p:cNvPr name="TextBox 13" id="13"/>
          <p:cNvSpPr txBox="true"/>
          <p:nvPr/>
        </p:nvSpPr>
        <p:spPr>
          <a:xfrm rot="0">
            <a:off x="6628283" y="7103411"/>
            <a:ext cx="5031434" cy="1387828"/>
          </a:xfrm>
          <a:prstGeom prst="rect">
            <a:avLst/>
          </a:prstGeom>
        </p:spPr>
        <p:txBody>
          <a:bodyPr anchor="t" rtlCol="false" tIns="0" lIns="0" bIns="0" rIns="0">
            <a:spAutoFit/>
          </a:bodyPr>
          <a:lstStyle/>
          <a:p>
            <a:pPr algn="ctr">
              <a:lnSpc>
                <a:spcPts val="2658"/>
              </a:lnSpc>
            </a:pPr>
            <a:r>
              <a:rPr lang="en-US" sz="2000" spc="-37">
                <a:solidFill>
                  <a:srgbClr val="292727"/>
                </a:solidFill>
                <a:latin typeface="Cy Grotesk Key"/>
                <a:ea typeface="Cy Grotesk Key"/>
                <a:cs typeface="Cy Grotesk Key"/>
                <a:sym typeface="Cy Grotesk Key"/>
              </a:rPr>
              <a:t>Kevin Manuel Sanchez Agredano</a:t>
            </a:r>
          </a:p>
          <a:p>
            <a:pPr algn="ctr">
              <a:lnSpc>
                <a:spcPts val="2658"/>
              </a:lnSpc>
            </a:pPr>
            <a:r>
              <a:rPr lang="en-US" sz="2000" spc="-37">
                <a:solidFill>
                  <a:srgbClr val="292727"/>
                </a:solidFill>
                <a:latin typeface="Cy Grotesk Key"/>
                <a:ea typeface="Cy Grotesk Key"/>
                <a:cs typeface="Cy Grotesk Key"/>
                <a:sym typeface="Cy Grotesk Key"/>
              </a:rPr>
              <a:t> Alan Guadalupe Herrera Castorena</a:t>
            </a:r>
          </a:p>
          <a:p>
            <a:pPr algn="ctr">
              <a:lnSpc>
                <a:spcPts val="2658"/>
              </a:lnSpc>
            </a:pPr>
            <a:r>
              <a:rPr lang="en-US" sz="2000" spc="-37">
                <a:solidFill>
                  <a:srgbClr val="292727"/>
                </a:solidFill>
                <a:latin typeface="Cy Grotesk Key"/>
                <a:ea typeface="Cy Grotesk Key"/>
                <a:cs typeface="Cy Grotesk Key"/>
                <a:sym typeface="Cy Grotesk Key"/>
              </a:rPr>
              <a:t>Jesús Dávalos Flores</a:t>
            </a:r>
          </a:p>
          <a:p>
            <a:pPr algn="ctr">
              <a:lnSpc>
                <a:spcPts val="2658"/>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1028700" y="2985287"/>
            <a:ext cx="4590965" cy="965835"/>
          </a:xfrm>
          <a:prstGeom prst="rect">
            <a:avLst/>
          </a:prstGeom>
        </p:spPr>
        <p:txBody>
          <a:bodyPr anchor="t" rtlCol="false" tIns="0" lIns="0" bIns="0" rIns="0">
            <a:spAutoFit/>
          </a:bodyPr>
          <a:lstStyle/>
          <a:p>
            <a:pPr algn="l">
              <a:lnSpc>
                <a:spcPts val="7770"/>
              </a:lnSpc>
            </a:pPr>
            <a:r>
              <a:rPr lang="en-US" sz="7000" spc="-182">
                <a:solidFill>
                  <a:srgbClr val="292727"/>
                </a:solidFill>
                <a:latin typeface="Cy Grotesk Key"/>
                <a:ea typeface="Cy Grotesk Key"/>
                <a:cs typeface="Cy Grotesk Key"/>
                <a:sym typeface="Cy Grotesk Key"/>
              </a:rPr>
              <a:t>Índice</a:t>
            </a:r>
          </a:p>
        </p:txBody>
      </p:sp>
      <p:sp>
        <p:nvSpPr>
          <p:cNvPr name="TextBox 7" id="7"/>
          <p:cNvSpPr txBox="true"/>
          <p:nvPr/>
        </p:nvSpPr>
        <p:spPr>
          <a:xfrm rot="0">
            <a:off x="1028701" y="4204151"/>
            <a:ext cx="4305300" cy="3169514"/>
          </a:xfrm>
          <a:prstGeom prst="rect">
            <a:avLst/>
          </a:prstGeom>
        </p:spPr>
        <p:txBody>
          <a:bodyPr anchor="t" rtlCol="false" tIns="0" lIns="0" bIns="0" rIns="0">
            <a:spAutoFit/>
          </a:bodyPr>
          <a:lstStyle/>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Introducción</a:t>
            </a:r>
          </a:p>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Problemática</a:t>
            </a:r>
          </a:p>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Objetivos</a:t>
            </a:r>
          </a:p>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Justificación</a:t>
            </a:r>
          </a:p>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Actualidad</a:t>
            </a:r>
          </a:p>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Hipótesis</a:t>
            </a:r>
          </a:p>
        </p:txBody>
      </p:sp>
      <p:sp>
        <p:nvSpPr>
          <p:cNvPr name="TextBox 8" id="8"/>
          <p:cNvSpPr txBox="true"/>
          <p:nvPr/>
        </p:nvSpPr>
        <p:spPr>
          <a:xfrm rot="0">
            <a:off x="4838700" y="4320953"/>
            <a:ext cx="6943007" cy="2102714"/>
          </a:xfrm>
          <a:prstGeom prst="rect">
            <a:avLst/>
          </a:prstGeom>
        </p:spPr>
        <p:txBody>
          <a:bodyPr anchor="t" rtlCol="false" tIns="0" lIns="0" bIns="0" rIns="0">
            <a:spAutoFit/>
          </a:bodyPr>
          <a:lstStyle/>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Diseño</a:t>
            </a:r>
          </a:p>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Resultados esperados y Conclusión</a:t>
            </a:r>
          </a:p>
          <a:p>
            <a:pPr algn="l" marL="1035888" indent="-345296" lvl="2">
              <a:lnSpc>
                <a:spcPts val="4247"/>
              </a:lnSpc>
              <a:buFont typeface="Arial"/>
              <a:buChar char="⚬"/>
            </a:pPr>
            <a:r>
              <a:rPr lang="en-US" sz="2399">
                <a:solidFill>
                  <a:srgbClr val="292727"/>
                </a:solidFill>
                <a:latin typeface="Cy Grotesk Key"/>
                <a:ea typeface="Cy Grotesk Key"/>
                <a:cs typeface="Cy Grotesk Key"/>
                <a:sym typeface="Cy Grotesk Key"/>
              </a:rPr>
              <a:t>Referencias</a:t>
            </a:r>
          </a:p>
          <a:p>
            <a:pPr algn="l">
              <a:lnSpc>
                <a:spcPts val="4247"/>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5900758" y="4686226"/>
            <a:ext cx="6486483" cy="952649"/>
          </a:xfrm>
          <a:prstGeom prst="rect">
            <a:avLst/>
          </a:prstGeom>
        </p:spPr>
        <p:txBody>
          <a:bodyPr anchor="t" rtlCol="false" tIns="0" lIns="0" bIns="0" rIns="0">
            <a:spAutoFit/>
          </a:bodyPr>
          <a:lstStyle/>
          <a:p>
            <a:pPr algn="ctr">
              <a:lnSpc>
                <a:spcPts val="7770"/>
              </a:lnSpc>
            </a:pPr>
            <a:r>
              <a:rPr lang="en-US" sz="7000" spc="-182">
                <a:solidFill>
                  <a:srgbClr val="292727"/>
                </a:solidFill>
                <a:latin typeface="Cy Grotesk Key"/>
                <a:ea typeface="Cy Grotesk Key"/>
                <a:cs typeface="Cy Grotesk Key"/>
                <a:sym typeface="Cy Grotesk Key"/>
              </a:rPr>
              <a:t>Introducción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sp>
        <p:nvSpPr>
          <p:cNvPr name="TextBox 4" id="4"/>
          <p:cNvSpPr txBox="true"/>
          <p:nvPr/>
        </p:nvSpPr>
        <p:spPr>
          <a:xfrm rot="0">
            <a:off x="1312874" y="3525070"/>
            <a:ext cx="9291139" cy="1575793"/>
          </a:xfrm>
          <a:prstGeom prst="rect">
            <a:avLst/>
          </a:prstGeom>
        </p:spPr>
        <p:txBody>
          <a:bodyPr anchor="t" rtlCol="false" tIns="0" lIns="0" bIns="0" rIns="0">
            <a:spAutoFit/>
          </a:bodyPr>
          <a:lstStyle/>
          <a:p>
            <a:pPr algn="l">
              <a:lnSpc>
                <a:spcPts val="3079"/>
              </a:lnSpc>
            </a:pPr>
            <a:r>
              <a:rPr lang="en-US" sz="2400">
                <a:solidFill>
                  <a:srgbClr val="292727"/>
                </a:solidFill>
                <a:latin typeface="Cy Grotesk Key"/>
                <a:ea typeface="Cy Grotesk Key"/>
                <a:cs typeface="Cy Grotesk Key"/>
                <a:sym typeface="Cy Grotesk Key"/>
              </a:rPr>
              <a:t>Los priones son proteínas anómalas que inducen cambios estructurales en proteínas normales, provocando enfermedades neurodegenerativas graves como la enfermedad de Creutzfeldt-Jakob.</a:t>
            </a:r>
          </a:p>
        </p:txBody>
      </p:sp>
      <p:sp>
        <p:nvSpPr>
          <p:cNvPr name="TextBox 5" id="5"/>
          <p:cNvSpPr txBox="true"/>
          <p:nvPr/>
        </p:nvSpPr>
        <p:spPr>
          <a:xfrm rot="0">
            <a:off x="1312874" y="1994625"/>
            <a:ext cx="9291139" cy="892339"/>
          </a:xfrm>
          <a:prstGeom prst="rect">
            <a:avLst/>
          </a:prstGeom>
        </p:spPr>
        <p:txBody>
          <a:bodyPr anchor="t" rtlCol="false" tIns="0" lIns="0" bIns="0" rIns="0">
            <a:spAutoFit/>
          </a:bodyPr>
          <a:lstStyle/>
          <a:p>
            <a:pPr algn="l">
              <a:lnSpc>
                <a:spcPts val="7103"/>
              </a:lnSpc>
            </a:pPr>
            <a:r>
              <a:rPr lang="en-US" sz="6398" spc="-165">
                <a:solidFill>
                  <a:srgbClr val="292727"/>
                </a:solidFill>
                <a:latin typeface="Cy Grotesk Wide"/>
                <a:ea typeface="Cy Grotesk Wide"/>
                <a:cs typeface="Cy Grotesk Wide"/>
                <a:sym typeface="Cy Grotesk Wide"/>
              </a:rPr>
              <a:t>Contexto científico</a:t>
            </a:r>
          </a:p>
        </p:txBody>
      </p:sp>
      <p:grpSp>
        <p:nvGrpSpPr>
          <p:cNvPr name="Group 6" id="6"/>
          <p:cNvGrpSpPr/>
          <p:nvPr/>
        </p:nvGrpSpPr>
        <p:grpSpPr>
          <a:xfrm rot="0">
            <a:off x="-4762" y="9253538"/>
            <a:ext cx="18297525" cy="9525"/>
            <a:chOff x="0" y="0"/>
            <a:chExt cx="24396700" cy="12700"/>
          </a:xfrm>
        </p:grpSpPr>
        <p:sp>
          <p:nvSpPr>
            <p:cNvPr name="Freeform 7" id="7"/>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8" id="8"/>
          <p:cNvGrpSpPr/>
          <p:nvPr/>
        </p:nvGrpSpPr>
        <p:grpSpPr>
          <a:xfrm rot="0">
            <a:off x="11903321" y="7502099"/>
            <a:ext cx="6384679" cy="1760964"/>
            <a:chOff x="0" y="0"/>
            <a:chExt cx="8512905" cy="2347951"/>
          </a:xfrm>
        </p:grpSpPr>
        <p:sp>
          <p:nvSpPr>
            <p:cNvPr name="Freeform 9" id="9"/>
            <p:cNvSpPr/>
            <p:nvPr/>
          </p:nvSpPr>
          <p:spPr>
            <a:xfrm flipH="false" flipV="false" rot="0">
              <a:off x="0" y="0"/>
              <a:ext cx="8512937" cy="2347976"/>
            </a:xfrm>
            <a:custGeom>
              <a:avLst/>
              <a:gdLst/>
              <a:ahLst/>
              <a:cxnLst/>
              <a:rect r="r" b="b" t="t" l="l"/>
              <a:pathLst>
                <a:path h="2347976" w="8512937">
                  <a:moveTo>
                    <a:pt x="0" y="0"/>
                  </a:moveTo>
                  <a:lnTo>
                    <a:pt x="8512937" y="0"/>
                  </a:lnTo>
                  <a:lnTo>
                    <a:pt x="8512937" y="2347976"/>
                  </a:lnTo>
                  <a:lnTo>
                    <a:pt x="0" y="2347976"/>
                  </a:lnTo>
                  <a:close/>
                </a:path>
              </a:pathLst>
            </a:custGeom>
            <a:solidFill>
              <a:srgbClr val="B8D9EF"/>
            </a:solidFill>
          </p:spPr>
        </p:sp>
      </p:grpSp>
      <p:sp>
        <p:nvSpPr>
          <p:cNvPr name="TextBox 10" id="10"/>
          <p:cNvSpPr txBox="true"/>
          <p:nvPr/>
        </p:nvSpPr>
        <p:spPr>
          <a:xfrm rot="0">
            <a:off x="12471668" y="7860996"/>
            <a:ext cx="5522724" cy="303735"/>
          </a:xfrm>
          <a:prstGeom prst="rect">
            <a:avLst/>
          </a:prstGeom>
        </p:spPr>
        <p:txBody>
          <a:bodyPr anchor="t" rtlCol="false" tIns="0" lIns="0" bIns="0" rIns="0">
            <a:spAutoFit/>
          </a:bodyPr>
          <a:lstStyle/>
          <a:p>
            <a:pPr algn="l">
              <a:lnSpc>
                <a:spcPts val="2363"/>
              </a:lnSpc>
            </a:pPr>
            <a:r>
              <a:rPr lang="en-US" sz="1899" spc="80">
                <a:solidFill>
                  <a:srgbClr val="292727"/>
                </a:solidFill>
                <a:latin typeface="Cy Grotesk Key"/>
                <a:ea typeface="Cy Grotesk Key"/>
                <a:cs typeface="Cy Grotesk Key"/>
                <a:sym typeface="Cy Grotesk Key"/>
              </a:rPr>
              <a:t>Fragmento de proteína prionica humana</a:t>
            </a:r>
          </a:p>
        </p:txBody>
      </p:sp>
      <p:sp>
        <p:nvSpPr>
          <p:cNvPr name="TextBox 11" id="11"/>
          <p:cNvSpPr txBox="true"/>
          <p:nvPr/>
        </p:nvSpPr>
        <p:spPr>
          <a:xfrm rot="0">
            <a:off x="1312874" y="5977163"/>
            <a:ext cx="9126524" cy="2376012"/>
          </a:xfrm>
          <a:prstGeom prst="rect">
            <a:avLst/>
          </a:prstGeom>
        </p:spPr>
        <p:txBody>
          <a:bodyPr anchor="t" rtlCol="false" tIns="0" lIns="0" bIns="0" rIns="0">
            <a:spAutoFit/>
          </a:bodyPr>
          <a:lstStyle/>
          <a:p>
            <a:pPr algn="l">
              <a:lnSpc>
                <a:spcPts val="3079"/>
              </a:lnSpc>
            </a:pPr>
            <a:r>
              <a:rPr lang="en-US" sz="2400">
                <a:solidFill>
                  <a:srgbClr val="292727"/>
                </a:solidFill>
                <a:latin typeface="Cy Grotesk Key"/>
                <a:ea typeface="Cy Grotesk Key"/>
                <a:cs typeface="Cy Grotesk Key"/>
                <a:sym typeface="Cy Grotesk Key"/>
              </a:rPr>
              <a:t>A pesar de décadas de investigación, su mecanismo de conversión conformacional continúa siendo un enigma. </a:t>
            </a:r>
          </a:p>
          <a:p>
            <a:pPr algn="l">
              <a:lnSpc>
                <a:spcPts val="3079"/>
              </a:lnSpc>
            </a:pPr>
            <a:r>
              <a:rPr lang="en-US" sz="2400">
                <a:solidFill>
                  <a:srgbClr val="292727"/>
                </a:solidFill>
                <a:latin typeface="Cy Grotesk Key"/>
                <a:ea typeface="Cy Grotesk Key"/>
                <a:cs typeface="Cy Grotesk Key"/>
                <a:sym typeface="Cy Grotesk Key"/>
              </a:rPr>
              <a:t>Es urgente entender su proceso de transformación porque estas enfermedades son mortales y no tienen tratamiento.</a:t>
            </a:r>
          </a:p>
          <a:p>
            <a:pPr algn="l">
              <a:lnSpc>
                <a:spcPts val="3079"/>
              </a:lnSpc>
            </a:pPr>
          </a:p>
        </p:txBody>
      </p:sp>
      <p:grpSp>
        <p:nvGrpSpPr>
          <p:cNvPr name="Group 12" id="12"/>
          <p:cNvGrpSpPr/>
          <p:nvPr/>
        </p:nvGrpSpPr>
        <p:grpSpPr>
          <a:xfrm rot="-5400000">
            <a:off x="-4114800" y="5133975"/>
            <a:ext cx="10296525" cy="9525"/>
            <a:chOff x="0" y="0"/>
            <a:chExt cx="13728700" cy="12700"/>
          </a:xfrm>
        </p:grpSpPr>
        <p:sp>
          <p:nvSpPr>
            <p:cNvPr name="Freeform 13" id="13"/>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14" id="14"/>
          <p:cNvGrpSpPr>
            <a:grpSpLocks noChangeAspect="true"/>
          </p:cNvGrpSpPr>
          <p:nvPr/>
        </p:nvGrpSpPr>
        <p:grpSpPr>
          <a:xfrm rot="0">
            <a:off x="11903321" y="2730892"/>
            <a:ext cx="6384679" cy="4788510"/>
            <a:chOff x="0" y="0"/>
            <a:chExt cx="8417608" cy="6313207"/>
          </a:xfrm>
        </p:grpSpPr>
        <p:sp>
          <p:nvSpPr>
            <p:cNvPr name="Freeform 15" id="15"/>
            <p:cNvSpPr/>
            <p:nvPr/>
          </p:nvSpPr>
          <p:spPr>
            <a:xfrm flipH="false" flipV="false" rot="0">
              <a:off x="0" y="0"/>
              <a:ext cx="8417560" cy="6313170"/>
            </a:xfrm>
            <a:custGeom>
              <a:avLst/>
              <a:gdLst/>
              <a:ahLst/>
              <a:cxnLst/>
              <a:rect r="r" b="b" t="t" l="l"/>
              <a:pathLst>
                <a:path h="6313170" w="8417560">
                  <a:moveTo>
                    <a:pt x="0" y="0"/>
                  </a:moveTo>
                  <a:lnTo>
                    <a:pt x="8417560" y="0"/>
                  </a:lnTo>
                  <a:lnTo>
                    <a:pt x="8417560" y="6313170"/>
                  </a:lnTo>
                  <a:lnTo>
                    <a:pt x="0" y="6313170"/>
                  </a:lnTo>
                  <a:lnTo>
                    <a:pt x="0" y="0"/>
                  </a:lnTo>
                  <a:close/>
                </a:path>
              </a:pathLst>
            </a:custGeom>
            <a:blipFill>
              <a:blip r:embed="rId2"/>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sp>
        <p:nvSpPr>
          <p:cNvPr name="TextBox 4" id="4"/>
          <p:cNvSpPr txBox="true"/>
          <p:nvPr/>
        </p:nvSpPr>
        <p:spPr>
          <a:xfrm rot="0">
            <a:off x="1364217" y="3750883"/>
            <a:ext cx="14256783" cy="1580923"/>
          </a:xfrm>
          <a:prstGeom prst="rect">
            <a:avLst/>
          </a:prstGeom>
        </p:spPr>
        <p:txBody>
          <a:bodyPr anchor="t" rtlCol="false" tIns="0" lIns="0" bIns="0" rIns="0">
            <a:spAutoFit/>
          </a:bodyPr>
          <a:lstStyle/>
          <a:p>
            <a:pPr algn="l">
              <a:lnSpc>
                <a:spcPts val="3079"/>
              </a:lnSpc>
            </a:pPr>
            <a:r>
              <a:rPr lang="en-US" sz="2400">
                <a:solidFill>
                  <a:srgbClr val="292727"/>
                </a:solidFill>
                <a:latin typeface="Cy Grotesk Key"/>
                <a:ea typeface="Cy Grotesk Key"/>
                <a:cs typeface="Cy Grotesk Key"/>
                <a:sym typeface="Cy Grotesk Key"/>
              </a:rPr>
              <a:t>MetaPrion utiliza la inteligencia computacional, bases de biología estructural y biofísica computacional para enfrentar este desafío. Se sugiere describir el proceso de conversión priónica como un problema de optimización energética en múltiples dimensiones, en el cual se concibe el plegamiento como la búsqueda de estados con mínima energía.</a:t>
            </a:r>
          </a:p>
        </p:txBody>
      </p:sp>
      <p:sp>
        <p:nvSpPr>
          <p:cNvPr name="TextBox 5" id="5"/>
          <p:cNvSpPr txBox="true"/>
          <p:nvPr/>
        </p:nvSpPr>
        <p:spPr>
          <a:xfrm rot="0">
            <a:off x="1364217" y="1883115"/>
            <a:ext cx="13799582" cy="872406"/>
          </a:xfrm>
          <a:prstGeom prst="rect">
            <a:avLst/>
          </a:prstGeom>
        </p:spPr>
        <p:txBody>
          <a:bodyPr anchor="t" rtlCol="false" tIns="0" lIns="0" bIns="0" rIns="0">
            <a:spAutoFit/>
          </a:bodyPr>
          <a:lstStyle/>
          <a:p>
            <a:pPr algn="l">
              <a:lnSpc>
                <a:spcPts val="7103"/>
              </a:lnSpc>
            </a:pPr>
            <a:r>
              <a:rPr lang="en-US" sz="6398" spc="-165">
                <a:solidFill>
                  <a:srgbClr val="292727"/>
                </a:solidFill>
                <a:latin typeface="Cy Grotesk Wide"/>
                <a:ea typeface="Cy Grotesk Wide"/>
                <a:cs typeface="Cy Grotesk Wide"/>
                <a:sym typeface="Cy Grotesk Wide"/>
              </a:rPr>
              <a:t>Perspectiva interdisciplinaria</a:t>
            </a:r>
          </a:p>
        </p:txBody>
      </p:sp>
      <p:grpSp>
        <p:nvGrpSpPr>
          <p:cNvPr name="Group 6" id="6"/>
          <p:cNvGrpSpPr/>
          <p:nvPr/>
        </p:nvGrpSpPr>
        <p:grpSpPr>
          <a:xfrm rot="0">
            <a:off x="-4762" y="9253538"/>
            <a:ext cx="18297525" cy="9525"/>
            <a:chOff x="0" y="0"/>
            <a:chExt cx="24396700" cy="12700"/>
          </a:xfrm>
        </p:grpSpPr>
        <p:sp>
          <p:nvSpPr>
            <p:cNvPr name="Freeform 7" id="7"/>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8" id="8"/>
          <p:cNvGrpSpPr/>
          <p:nvPr/>
        </p:nvGrpSpPr>
        <p:grpSpPr>
          <a:xfrm rot="-5400000">
            <a:off x="-4114800" y="5133975"/>
            <a:ext cx="10296525" cy="9525"/>
            <a:chOff x="0" y="0"/>
            <a:chExt cx="13728700" cy="12700"/>
          </a:xfrm>
        </p:grpSpPr>
        <p:sp>
          <p:nvSpPr>
            <p:cNvPr name="Freeform 9" id="9"/>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5900758" y="4686226"/>
            <a:ext cx="6486483" cy="952649"/>
          </a:xfrm>
          <a:prstGeom prst="rect">
            <a:avLst/>
          </a:prstGeom>
        </p:spPr>
        <p:txBody>
          <a:bodyPr anchor="t" rtlCol="false" tIns="0" lIns="0" bIns="0" rIns="0">
            <a:spAutoFit/>
          </a:bodyPr>
          <a:lstStyle/>
          <a:p>
            <a:pPr algn="ctr">
              <a:lnSpc>
                <a:spcPts val="7770"/>
              </a:lnSpc>
            </a:pPr>
            <a:r>
              <a:rPr lang="en-US" sz="7000" spc="-182">
                <a:solidFill>
                  <a:srgbClr val="292727"/>
                </a:solidFill>
                <a:latin typeface="Cy Grotesk Key"/>
                <a:ea typeface="Cy Grotesk Key"/>
                <a:cs typeface="Cy Grotesk Key"/>
                <a:sym typeface="Cy Grotesk Key"/>
              </a:rPr>
              <a:t>Problemática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sp>
        <p:nvSpPr>
          <p:cNvPr name="TextBox 4" id="4"/>
          <p:cNvSpPr txBox="true"/>
          <p:nvPr/>
        </p:nvSpPr>
        <p:spPr>
          <a:xfrm rot="0">
            <a:off x="1364217" y="3750883"/>
            <a:ext cx="14256783" cy="3171102"/>
          </a:xfrm>
          <a:prstGeom prst="rect">
            <a:avLst/>
          </a:prstGeom>
        </p:spPr>
        <p:txBody>
          <a:bodyPr anchor="t" rtlCol="false" tIns="0" lIns="0" bIns="0" rIns="0">
            <a:spAutoFit/>
          </a:bodyPr>
          <a:lstStyle/>
          <a:p>
            <a:pPr algn="l">
              <a:lnSpc>
                <a:spcPts val="3079"/>
              </a:lnSpc>
            </a:pPr>
            <a:r>
              <a:rPr lang="en-US" sz="2400">
                <a:solidFill>
                  <a:srgbClr val="292727"/>
                </a:solidFill>
                <a:latin typeface="Cy Grotesk Key"/>
                <a:ea typeface="Cy Grotesk Key"/>
                <a:cs typeface="Cy Grotesk Key"/>
                <a:sym typeface="Cy Grotesk Key"/>
              </a:rPr>
              <a:t>Persiste una comprensión limitada del proceso molecular que transforma la proteína priónica normal (PrPᶜ) en su forma patológica (PrPˢᶜ).</a:t>
            </a:r>
          </a:p>
          <a:p>
            <a:pPr algn="l">
              <a:lnSpc>
                <a:spcPts val="3079"/>
              </a:lnSpc>
            </a:pPr>
          </a:p>
          <a:p>
            <a:pPr algn="l">
              <a:lnSpc>
                <a:spcPts val="3079"/>
              </a:lnSpc>
            </a:pPr>
          </a:p>
          <a:p>
            <a:pPr algn="l">
              <a:lnSpc>
                <a:spcPts val="3079"/>
              </a:lnSpc>
            </a:pPr>
          </a:p>
          <a:p>
            <a:pPr algn="l">
              <a:lnSpc>
                <a:spcPts val="3079"/>
              </a:lnSpc>
            </a:pPr>
            <a:r>
              <a:rPr lang="en-US" sz="2400">
                <a:solidFill>
                  <a:srgbClr val="292727"/>
                </a:solidFill>
                <a:latin typeface="Cy Grotesk Key"/>
                <a:ea typeface="Cy Grotesk Key"/>
                <a:cs typeface="Cy Grotesk Key"/>
                <a:sym typeface="Cy Grotesk Key"/>
              </a:rPr>
              <a:t>Los métodos experimentales actuales son costosos, lentos y no capturan la naturaleza dinámica y multidimensional del plegamiento proteico</a:t>
            </a:r>
          </a:p>
          <a:p>
            <a:pPr algn="l">
              <a:lnSpc>
                <a:spcPts val="3079"/>
              </a:lnSpc>
            </a:pPr>
          </a:p>
        </p:txBody>
      </p:sp>
      <p:sp>
        <p:nvSpPr>
          <p:cNvPr name="TextBox 5" id="5"/>
          <p:cNvSpPr txBox="true"/>
          <p:nvPr/>
        </p:nvSpPr>
        <p:spPr>
          <a:xfrm rot="0">
            <a:off x="1364217" y="1883115"/>
            <a:ext cx="13799582" cy="872406"/>
          </a:xfrm>
          <a:prstGeom prst="rect">
            <a:avLst/>
          </a:prstGeom>
        </p:spPr>
        <p:txBody>
          <a:bodyPr anchor="t" rtlCol="false" tIns="0" lIns="0" bIns="0" rIns="0">
            <a:spAutoFit/>
          </a:bodyPr>
          <a:lstStyle/>
          <a:p>
            <a:pPr algn="l">
              <a:lnSpc>
                <a:spcPts val="7103"/>
              </a:lnSpc>
            </a:pPr>
            <a:r>
              <a:rPr lang="en-US" sz="6398" spc="-165">
                <a:solidFill>
                  <a:srgbClr val="292727"/>
                </a:solidFill>
                <a:latin typeface="Cy Grotesk Wide"/>
                <a:ea typeface="Cy Grotesk Wide"/>
                <a:cs typeface="Cy Grotesk Wide"/>
                <a:sym typeface="Cy Grotesk Wide"/>
              </a:rPr>
              <a:t>Problema central</a:t>
            </a:r>
          </a:p>
        </p:txBody>
      </p:sp>
      <p:grpSp>
        <p:nvGrpSpPr>
          <p:cNvPr name="Group 6" id="6"/>
          <p:cNvGrpSpPr/>
          <p:nvPr/>
        </p:nvGrpSpPr>
        <p:grpSpPr>
          <a:xfrm rot="0">
            <a:off x="-4762" y="9253538"/>
            <a:ext cx="18297525" cy="9525"/>
            <a:chOff x="0" y="0"/>
            <a:chExt cx="24396700" cy="12700"/>
          </a:xfrm>
        </p:grpSpPr>
        <p:sp>
          <p:nvSpPr>
            <p:cNvPr name="Freeform 7" id="7"/>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8" id="8"/>
          <p:cNvGrpSpPr/>
          <p:nvPr/>
        </p:nvGrpSpPr>
        <p:grpSpPr>
          <a:xfrm rot="-5400000">
            <a:off x="-4114800" y="5133975"/>
            <a:ext cx="10296525" cy="9525"/>
            <a:chOff x="0" y="0"/>
            <a:chExt cx="13728700" cy="12700"/>
          </a:xfrm>
        </p:grpSpPr>
        <p:sp>
          <p:nvSpPr>
            <p:cNvPr name="Freeform 9" id="9"/>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sp>
        <p:nvSpPr>
          <p:cNvPr name="TextBox 4" id="4"/>
          <p:cNvSpPr txBox="true"/>
          <p:nvPr/>
        </p:nvSpPr>
        <p:spPr>
          <a:xfrm rot="0">
            <a:off x="1364217" y="3750883"/>
            <a:ext cx="14256783" cy="1580923"/>
          </a:xfrm>
          <a:prstGeom prst="rect">
            <a:avLst/>
          </a:prstGeom>
        </p:spPr>
        <p:txBody>
          <a:bodyPr anchor="t" rtlCol="false" tIns="0" lIns="0" bIns="0" rIns="0">
            <a:spAutoFit/>
          </a:bodyPr>
          <a:lstStyle/>
          <a:p>
            <a:pPr algn="l">
              <a:lnSpc>
                <a:spcPts val="3079"/>
              </a:lnSpc>
            </a:pPr>
            <a:r>
              <a:rPr lang="en-US" sz="2400">
                <a:solidFill>
                  <a:srgbClr val="292727"/>
                </a:solidFill>
                <a:latin typeface="Cy Grotesk Key"/>
                <a:ea typeface="Cy Grotesk Key"/>
                <a:cs typeface="Cy Grotesk Key"/>
                <a:sym typeface="Cy Grotesk Key"/>
              </a:rPr>
              <a:t>MetaPrion se presenta como una solución innovadora: el uso de algoritmos metaheurísticos para analizar el paisaje energético, reconocer estados intermedios y producir mapas computacionales, con propósitos didácticos y que respalden la investigación experimental.</a:t>
            </a:r>
          </a:p>
        </p:txBody>
      </p:sp>
      <p:sp>
        <p:nvSpPr>
          <p:cNvPr name="TextBox 5" id="5"/>
          <p:cNvSpPr txBox="true"/>
          <p:nvPr/>
        </p:nvSpPr>
        <p:spPr>
          <a:xfrm rot="0">
            <a:off x="1364217" y="1883115"/>
            <a:ext cx="13799582" cy="872406"/>
          </a:xfrm>
          <a:prstGeom prst="rect">
            <a:avLst/>
          </a:prstGeom>
        </p:spPr>
        <p:txBody>
          <a:bodyPr anchor="t" rtlCol="false" tIns="0" lIns="0" bIns="0" rIns="0">
            <a:spAutoFit/>
          </a:bodyPr>
          <a:lstStyle/>
          <a:p>
            <a:pPr algn="l">
              <a:lnSpc>
                <a:spcPts val="7103"/>
              </a:lnSpc>
            </a:pPr>
            <a:r>
              <a:rPr lang="en-US" sz="6398" spc="-165">
                <a:solidFill>
                  <a:srgbClr val="292727"/>
                </a:solidFill>
                <a:latin typeface="Cy Grotesk Wide"/>
                <a:ea typeface="Cy Grotesk Wide"/>
                <a:cs typeface="Cy Grotesk Wide"/>
                <a:sym typeface="Cy Grotesk Wide"/>
              </a:rPr>
              <a:t>Oportunidad</a:t>
            </a:r>
          </a:p>
        </p:txBody>
      </p:sp>
      <p:grpSp>
        <p:nvGrpSpPr>
          <p:cNvPr name="Group 6" id="6"/>
          <p:cNvGrpSpPr/>
          <p:nvPr/>
        </p:nvGrpSpPr>
        <p:grpSpPr>
          <a:xfrm rot="0">
            <a:off x="-4762" y="9253538"/>
            <a:ext cx="18297525" cy="9525"/>
            <a:chOff x="0" y="0"/>
            <a:chExt cx="24396700" cy="12700"/>
          </a:xfrm>
        </p:grpSpPr>
        <p:sp>
          <p:nvSpPr>
            <p:cNvPr name="Freeform 7" id="7"/>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8" id="8"/>
          <p:cNvGrpSpPr/>
          <p:nvPr/>
        </p:nvGrpSpPr>
        <p:grpSpPr>
          <a:xfrm rot="-5400000">
            <a:off x="-4114800" y="5133975"/>
            <a:ext cx="10296525" cy="9525"/>
            <a:chOff x="0" y="0"/>
            <a:chExt cx="13728700" cy="12700"/>
          </a:xfrm>
        </p:grpSpPr>
        <p:sp>
          <p:nvSpPr>
            <p:cNvPr name="Freeform 9" id="9"/>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5900758" y="4686226"/>
            <a:ext cx="6486483" cy="952649"/>
          </a:xfrm>
          <a:prstGeom prst="rect">
            <a:avLst/>
          </a:prstGeom>
        </p:spPr>
        <p:txBody>
          <a:bodyPr anchor="t" rtlCol="false" tIns="0" lIns="0" bIns="0" rIns="0">
            <a:spAutoFit/>
          </a:bodyPr>
          <a:lstStyle/>
          <a:p>
            <a:pPr algn="ctr">
              <a:lnSpc>
                <a:spcPts val="7770"/>
              </a:lnSpc>
            </a:pPr>
            <a:r>
              <a:rPr lang="en-US" sz="7000" spc="-182">
                <a:solidFill>
                  <a:srgbClr val="292727"/>
                </a:solidFill>
                <a:latin typeface="Cy Grotesk Key"/>
                <a:ea typeface="Cy Grotesk Key"/>
                <a:cs typeface="Cy Grotesk Key"/>
                <a:sym typeface="Cy Grotesk Key"/>
              </a:rPr>
              <a:t>Objetivos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92727"/>
        </a:solidFill>
      </p:bgPr>
    </p:bg>
    <p:spTree>
      <p:nvGrpSpPr>
        <p:cNvPr id="1" name=""/>
        <p:cNvGrpSpPr/>
        <p:nvPr/>
      </p:nvGrpSpPr>
      <p:grpSpPr>
        <a:xfrm>
          <a:off x="0" y="0"/>
          <a:ext cx="0" cy="0"/>
          <a:chOff x="0" y="0"/>
          <a:chExt cx="0" cy="0"/>
        </a:xfrm>
      </p:grpSpPr>
      <p:sp>
        <p:nvSpPr>
          <p:cNvPr name="TextBox 2" id="2"/>
          <p:cNvSpPr txBox="true"/>
          <p:nvPr/>
        </p:nvSpPr>
        <p:spPr>
          <a:xfrm rot="0">
            <a:off x="9805668" y="4343400"/>
            <a:ext cx="6882132" cy="2380408"/>
          </a:xfrm>
          <a:prstGeom prst="rect">
            <a:avLst/>
          </a:prstGeom>
        </p:spPr>
        <p:txBody>
          <a:bodyPr anchor="t" rtlCol="false" tIns="0" lIns="0" bIns="0" rIns="0">
            <a:spAutoFit/>
          </a:bodyPr>
          <a:lstStyle/>
          <a:p>
            <a:pPr algn="l">
              <a:lnSpc>
                <a:spcPts val="3079"/>
              </a:lnSpc>
            </a:pPr>
            <a:r>
              <a:rPr lang="en-US" sz="2200">
                <a:solidFill>
                  <a:srgbClr val="EDDED2"/>
                </a:solidFill>
                <a:latin typeface="Cy Grotesk Key"/>
                <a:ea typeface="Cy Grotesk Key"/>
                <a:cs typeface="Cy Grotesk Key"/>
                <a:sym typeface="Cy Grotesk Key"/>
              </a:rPr>
              <a:t>Utilizar algoritmos metaheurísticos para modelar la transformación conformacional de PrPc a PrPˢᶜ, con el objetivo de detectar rutas de transición y estados intermedios, así como desarrollar un marco computacional que complemente las técnicas experimentales.</a:t>
            </a:r>
          </a:p>
        </p:txBody>
      </p:sp>
      <p:sp>
        <p:nvSpPr>
          <p:cNvPr name="TextBox 3" id="3"/>
          <p:cNvSpPr txBox="true"/>
          <p:nvPr/>
        </p:nvSpPr>
        <p:spPr>
          <a:xfrm rot="0">
            <a:off x="9805668" y="2076451"/>
            <a:ext cx="7141988" cy="1782911"/>
          </a:xfrm>
          <a:prstGeom prst="rect">
            <a:avLst/>
          </a:prstGeom>
        </p:spPr>
        <p:txBody>
          <a:bodyPr anchor="t" rtlCol="false" tIns="0" lIns="0" bIns="0" rIns="0">
            <a:spAutoFit/>
          </a:bodyPr>
          <a:lstStyle/>
          <a:p>
            <a:pPr algn="l">
              <a:lnSpc>
                <a:spcPts val="7103"/>
              </a:lnSpc>
            </a:pPr>
            <a:r>
              <a:rPr lang="en-US" sz="6398" spc="-165">
                <a:solidFill>
                  <a:srgbClr val="EDDED2"/>
                </a:solidFill>
                <a:latin typeface="Cy Grotesk Wide"/>
                <a:ea typeface="Cy Grotesk Wide"/>
                <a:cs typeface="Cy Grotesk Wide"/>
                <a:sym typeface="Cy Grotesk Wide"/>
              </a:rPr>
              <a:t>Objetivo general</a:t>
            </a:r>
          </a:p>
        </p:txBody>
      </p:sp>
      <p:grpSp>
        <p:nvGrpSpPr>
          <p:cNvPr name="Group 4" id="4"/>
          <p:cNvGrpSpPr/>
          <p:nvPr/>
        </p:nvGrpSpPr>
        <p:grpSpPr>
          <a:xfrm rot="0">
            <a:off x="-175272" y="1014412"/>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6" id="6"/>
          <p:cNvGrpSpPr/>
          <p:nvPr/>
        </p:nvGrpSpPr>
        <p:grpSpPr>
          <a:xfrm rot="0">
            <a:off x="-175272" y="9253538"/>
            <a:ext cx="18468035" cy="9525"/>
            <a:chOff x="0" y="0"/>
            <a:chExt cx="24624047" cy="12700"/>
          </a:xfrm>
        </p:grpSpPr>
        <p:sp>
          <p:nvSpPr>
            <p:cNvPr name="Freeform 7" id="7"/>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8" id="8"/>
          <p:cNvGrpSpPr/>
          <p:nvPr/>
        </p:nvGrpSpPr>
        <p:grpSpPr>
          <a:xfrm rot="-5400000">
            <a:off x="11942919" y="5133976"/>
            <a:ext cx="10296525" cy="9525"/>
            <a:chOff x="0" y="0"/>
            <a:chExt cx="13728700" cy="12700"/>
          </a:xfrm>
        </p:grpSpPr>
        <p:sp>
          <p:nvSpPr>
            <p:cNvPr name="Freeform 9" id="9"/>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grpSp>
        <p:nvGrpSpPr>
          <p:cNvPr name="Group 10" id="10"/>
          <p:cNvGrpSpPr>
            <a:grpSpLocks noChangeAspect="true"/>
          </p:cNvGrpSpPr>
          <p:nvPr/>
        </p:nvGrpSpPr>
        <p:grpSpPr>
          <a:xfrm rot="0">
            <a:off x="915629" y="2038351"/>
            <a:ext cx="8191500" cy="5524500"/>
            <a:chOff x="0" y="0"/>
            <a:chExt cx="10922000" cy="7366000"/>
          </a:xfrm>
        </p:grpSpPr>
        <p:sp>
          <p:nvSpPr>
            <p:cNvPr name="Freeform 11" id="11"/>
            <p:cNvSpPr/>
            <p:nvPr/>
          </p:nvSpPr>
          <p:spPr>
            <a:xfrm flipH="false" flipV="false" rot="0">
              <a:off x="0" y="0"/>
              <a:ext cx="10922000" cy="7366000"/>
            </a:xfrm>
            <a:custGeom>
              <a:avLst/>
              <a:gdLst/>
              <a:ahLst/>
              <a:cxnLst/>
              <a:rect r="r" b="b" t="t" l="l"/>
              <a:pathLst>
                <a:path h="7366000" w="10922000">
                  <a:moveTo>
                    <a:pt x="0" y="0"/>
                  </a:moveTo>
                  <a:lnTo>
                    <a:pt x="10922000" y="0"/>
                  </a:lnTo>
                  <a:lnTo>
                    <a:pt x="10922000" y="7366000"/>
                  </a:lnTo>
                  <a:lnTo>
                    <a:pt x="0" y="7366000"/>
                  </a:lnTo>
                  <a:lnTo>
                    <a:pt x="0" y="0"/>
                  </a:lnTo>
                  <a:close/>
                </a:path>
              </a:pathLst>
            </a:custGeom>
            <a:blipFill>
              <a:blip r:embed="rId2"/>
              <a:stretch>
                <a:fillRect l="0" t="0" r="0" b="0"/>
              </a:stretch>
            </a:blipFill>
          </p:spPr>
        </p:sp>
      </p:grpSp>
      <p:grpSp>
        <p:nvGrpSpPr>
          <p:cNvPr name="Group 12" id="12"/>
          <p:cNvGrpSpPr/>
          <p:nvPr/>
        </p:nvGrpSpPr>
        <p:grpSpPr>
          <a:xfrm rot="0">
            <a:off x="1819039" y="7891463"/>
            <a:ext cx="6384679" cy="1033462"/>
            <a:chOff x="0" y="0"/>
            <a:chExt cx="8512905" cy="1377950"/>
          </a:xfrm>
        </p:grpSpPr>
        <p:grpSp>
          <p:nvGrpSpPr>
            <p:cNvPr name="Group 13" id="13"/>
            <p:cNvGrpSpPr/>
            <p:nvPr/>
          </p:nvGrpSpPr>
          <p:grpSpPr>
            <a:xfrm rot="0">
              <a:off x="0" y="0"/>
              <a:ext cx="8512905" cy="1377950"/>
              <a:chOff x="0" y="0"/>
              <a:chExt cx="8512905" cy="1377950"/>
            </a:xfrm>
          </p:grpSpPr>
          <p:sp>
            <p:nvSpPr>
              <p:cNvPr name="Freeform 14" id="14"/>
              <p:cNvSpPr/>
              <p:nvPr/>
            </p:nvSpPr>
            <p:spPr>
              <a:xfrm flipH="false" flipV="false" rot="0">
                <a:off x="0" y="0"/>
                <a:ext cx="8512937" cy="1377975"/>
              </a:xfrm>
              <a:custGeom>
                <a:avLst/>
                <a:gdLst/>
                <a:ahLst/>
                <a:cxnLst/>
                <a:rect r="r" b="b" t="t" l="l"/>
                <a:pathLst>
                  <a:path h="1377975" w="8512937">
                    <a:moveTo>
                      <a:pt x="0" y="0"/>
                    </a:moveTo>
                    <a:lnTo>
                      <a:pt x="8512937" y="0"/>
                    </a:lnTo>
                    <a:lnTo>
                      <a:pt x="8512937" y="1377975"/>
                    </a:lnTo>
                    <a:lnTo>
                      <a:pt x="0" y="1377975"/>
                    </a:lnTo>
                    <a:close/>
                  </a:path>
                </a:pathLst>
              </a:custGeom>
              <a:solidFill>
                <a:srgbClr val="B8D9EF"/>
              </a:solidFill>
            </p:spPr>
          </p:sp>
        </p:grpSp>
        <p:sp>
          <p:nvSpPr>
            <p:cNvPr name="TextBox 15" id="15"/>
            <p:cNvSpPr txBox="true"/>
            <p:nvPr/>
          </p:nvSpPr>
          <p:spPr>
            <a:xfrm rot="0">
              <a:off x="734498" y="498083"/>
              <a:ext cx="7043909" cy="423286"/>
            </a:xfrm>
            <a:prstGeom prst="rect">
              <a:avLst/>
            </a:prstGeom>
          </p:spPr>
          <p:txBody>
            <a:bodyPr anchor="t" rtlCol="false" tIns="0" lIns="0" bIns="0" rIns="0">
              <a:spAutoFit/>
            </a:bodyPr>
            <a:lstStyle/>
            <a:p>
              <a:pPr algn="ctr">
                <a:lnSpc>
                  <a:spcPts val="2487"/>
                </a:lnSpc>
              </a:pPr>
              <a:r>
                <a:rPr lang="en-US" sz="1999" spc="84">
                  <a:solidFill>
                    <a:srgbClr val="292727"/>
                  </a:solidFill>
                  <a:latin typeface="Cy Grotesk Key"/>
                  <a:ea typeface="Cy Grotesk Key"/>
                  <a:cs typeface="Cy Grotesk Key"/>
                  <a:sym typeface="Cy Grotesk Key"/>
                </a:rPr>
                <a:t>Representación de algoritmo GA</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31F20"/>
            </a:solidFill>
          </p:spPr>
        </p:sp>
      </p:grpSp>
      <p:grpSp>
        <p:nvGrpSpPr>
          <p:cNvPr name="Group 4" id="4"/>
          <p:cNvGrpSpPr/>
          <p:nvPr/>
        </p:nvGrpSpPr>
        <p:grpSpPr>
          <a:xfrm rot="0">
            <a:off x="-175272" y="9253538"/>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31F20"/>
            </a:solidFill>
          </p:spPr>
        </p:sp>
      </p:grpSp>
      <p:grpSp>
        <p:nvGrpSpPr>
          <p:cNvPr name="Group 6" id="6"/>
          <p:cNvGrpSpPr/>
          <p:nvPr/>
        </p:nvGrpSpPr>
        <p:grpSpPr>
          <a:xfrm rot="-5400000">
            <a:off x="11942919" y="5133976"/>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31F20"/>
            </a:solidFill>
          </p:spPr>
        </p:sp>
      </p:grpSp>
      <p:sp>
        <p:nvSpPr>
          <p:cNvPr name="TextBox 8" id="8"/>
          <p:cNvSpPr txBox="true"/>
          <p:nvPr/>
        </p:nvSpPr>
        <p:spPr>
          <a:xfrm rot="0">
            <a:off x="9902344" y="1408205"/>
            <a:ext cx="6895498" cy="1782911"/>
          </a:xfrm>
          <a:prstGeom prst="rect">
            <a:avLst/>
          </a:prstGeom>
        </p:spPr>
        <p:txBody>
          <a:bodyPr anchor="t" rtlCol="false" tIns="0" lIns="0" bIns="0" rIns="0">
            <a:spAutoFit/>
          </a:bodyPr>
          <a:lstStyle/>
          <a:p>
            <a:pPr algn="l">
              <a:lnSpc>
                <a:spcPts val="7103"/>
              </a:lnSpc>
            </a:pPr>
            <a:r>
              <a:rPr lang="en-US" sz="6398" spc="-165">
                <a:solidFill>
                  <a:srgbClr val="292727"/>
                </a:solidFill>
                <a:latin typeface="Cy Grotesk Wide"/>
                <a:ea typeface="Cy Grotesk Wide"/>
                <a:cs typeface="Cy Grotesk Wide"/>
                <a:sym typeface="Cy Grotesk Wide"/>
              </a:rPr>
              <a:t>Objetivos específicos </a:t>
            </a:r>
          </a:p>
        </p:txBody>
      </p:sp>
      <p:sp>
        <p:nvSpPr>
          <p:cNvPr name="TextBox 9" id="9"/>
          <p:cNvSpPr txBox="true"/>
          <p:nvPr/>
        </p:nvSpPr>
        <p:spPr>
          <a:xfrm rot="0">
            <a:off x="9712468" y="3513470"/>
            <a:ext cx="6810246" cy="3846928"/>
          </a:xfrm>
          <a:prstGeom prst="rect">
            <a:avLst/>
          </a:prstGeom>
        </p:spPr>
        <p:txBody>
          <a:bodyPr anchor="t" rtlCol="false" tIns="0" lIns="0" bIns="0" rIns="0">
            <a:spAutoFit/>
          </a:bodyPr>
          <a:lstStyle/>
          <a:p>
            <a:pPr algn="l" marL="435609" indent="-145203" lvl="2">
              <a:lnSpc>
                <a:spcPts val="2519"/>
              </a:lnSpc>
              <a:buFont typeface="Arial"/>
              <a:buChar char="⚬"/>
            </a:pPr>
            <a:r>
              <a:rPr lang="en-US" sz="2000">
                <a:solidFill>
                  <a:srgbClr val="292727"/>
                </a:solidFill>
                <a:latin typeface="Cy Grotesk Key"/>
                <a:ea typeface="Cy Grotesk Key"/>
                <a:cs typeface="Cy Grotesk Key"/>
                <a:sym typeface="Cy Grotesk Key"/>
              </a:rPr>
              <a:t>Representar la conversión priónica como un problema de optimización energética.</a:t>
            </a:r>
          </a:p>
          <a:p>
            <a:pPr algn="l" marL="435609" indent="-145203" lvl="2">
              <a:lnSpc>
                <a:spcPts val="2519"/>
              </a:lnSpc>
            </a:pPr>
          </a:p>
          <a:p>
            <a:pPr algn="l" marL="435609" indent="-145203" lvl="2">
              <a:lnSpc>
                <a:spcPts val="2519"/>
              </a:lnSpc>
              <a:buFont typeface="Arial"/>
              <a:buChar char="⚬"/>
            </a:pPr>
            <a:r>
              <a:rPr lang="en-US" sz="2000">
                <a:solidFill>
                  <a:srgbClr val="292727"/>
                </a:solidFill>
                <a:latin typeface="Cy Grotesk Key"/>
                <a:ea typeface="Cy Grotesk Key"/>
                <a:cs typeface="Cy Grotesk Key"/>
                <a:sym typeface="Cy Grotesk Key"/>
              </a:rPr>
              <a:t>Implementar y contrastar algoritmos metaheurísticos (NSGA-II, PSO, GA, SA).</a:t>
            </a:r>
          </a:p>
          <a:p>
            <a:pPr algn="l" marL="435609" indent="-145203" lvl="2">
              <a:lnSpc>
                <a:spcPts val="2519"/>
              </a:lnSpc>
            </a:pPr>
          </a:p>
          <a:p>
            <a:pPr algn="l" marL="435609" indent="-145203" lvl="2">
              <a:lnSpc>
                <a:spcPts val="2519"/>
              </a:lnSpc>
              <a:buFont typeface="Arial"/>
              <a:buChar char="⚬"/>
            </a:pPr>
            <a:r>
              <a:rPr lang="en-US" sz="2000">
                <a:solidFill>
                  <a:srgbClr val="292727"/>
                </a:solidFill>
                <a:latin typeface="Cy Grotesk Key"/>
                <a:ea typeface="Cy Grotesk Key"/>
                <a:cs typeface="Cy Grotesk Key"/>
                <a:sym typeface="Cy Grotesk Key"/>
              </a:rPr>
              <a:t>Examinar la estabilidad de las configuraciones intermedias.</a:t>
            </a:r>
          </a:p>
          <a:p>
            <a:pPr algn="l" marL="435609" indent="-145203" lvl="2">
              <a:lnSpc>
                <a:spcPts val="2519"/>
              </a:lnSpc>
            </a:pPr>
          </a:p>
          <a:p>
            <a:pPr algn="l" marL="435609" indent="-145203" lvl="2">
              <a:lnSpc>
                <a:spcPts val="2519"/>
              </a:lnSpc>
              <a:buFont typeface="Arial"/>
              <a:buChar char="⚬"/>
            </a:pPr>
            <a:r>
              <a:rPr lang="en-US" sz="2000">
                <a:solidFill>
                  <a:srgbClr val="292727"/>
                </a:solidFill>
                <a:latin typeface="Cy Grotesk Key"/>
                <a:ea typeface="Cy Grotesk Key"/>
                <a:cs typeface="Cy Grotesk Key"/>
                <a:sym typeface="Cy Grotesk Key"/>
              </a:rPr>
              <a:t>Crear mapas visuales sobre el paisaje  energético.</a:t>
            </a:r>
          </a:p>
          <a:p>
            <a:pPr algn="l" marL="435609" indent="-145203" lvl="2">
              <a:lnSpc>
                <a:spcPts val="2519"/>
              </a:lnSpc>
            </a:pPr>
          </a:p>
        </p:txBody>
      </p:sp>
      <p:grpSp>
        <p:nvGrpSpPr>
          <p:cNvPr name="Group 10" id="10"/>
          <p:cNvGrpSpPr>
            <a:grpSpLocks noChangeAspect="true"/>
          </p:cNvGrpSpPr>
          <p:nvPr/>
        </p:nvGrpSpPr>
        <p:grpSpPr>
          <a:xfrm rot="0">
            <a:off x="364444" y="3207093"/>
            <a:ext cx="9318527" cy="4662488"/>
            <a:chOff x="0" y="0"/>
            <a:chExt cx="12424703" cy="6216651"/>
          </a:xfrm>
        </p:grpSpPr>
        <p:sp>
          <p:nvSpPr>
            <p:cNvPr name="Freeform 11" id="11"/>
            <p:cNvSpPr/>
            <p:nvPr/>
          </p:nvSpPr>
          <p:spPr>
            <a:xfrm flipH="false" flipV="false" rot="0">
              <a:off x="0" y="0"/>
              <a:ext cx="12424664" cy="6216650"/>
            </a:xfrm>
            <a:custGeom>
              <a:avLst/>
              <a:gdLst/>
              <a:ahLst/>
              <a:cxnLst/>
              <a:rect r="r" b="b" t="t" l="l"/>
              <a:pathLst>
                <a:path h="6216650" w="12424664">
                  <a:moveTo>
                    <a:pt x="0" y="0"/>
                  </a:moveTo>
                  <a:lnTo>
                    <a:pt x="12424664" y="0"/>
                  </a:lnTo>
                  <a:lnTo>
                    <a:pt x="12424664" y="6216650"/>
                  </a:lnTo>
                  <a:lnTo>
                    <a:pt x="0" y="6216650"/>
                  </a:lnTo>
                  <a:lnTo>
                    <a:pt x="0" y="0"/>
                  </a:lnTo>
                  <a:close/>
                </a:path>
              </a:pathLst>
            </a:custGeom>
            <a:blipFill>
              <a:blip r:embed="rId2"/>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31F20"/>
            </a:solidFill>
          </p:spPr>
        </p:sp>
      </p:grpSp>
      <p:grpSp>
        <p:nvGrpSpPr>
          <p:cNvPr name="Group 4" id="4"/>
          <p:cNvGrpSpPr/>
          <p:nvPr/>
        </p:nvGrpSpPr>
        <p:grpSpPr>
          <a:xfrm rot="0">
            <a:off x="-175272" y="9253538"/>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31F20"/>
            </a:solidFill>
          </p:spPr>
        </p:sp>
      </p:grpSp>
      <p:grpSp>
        <p:nvGrpSpPr>
          <p:cNvPr name="Group 6" id="6"/>
          <p:cNvGrpSpPr/>
          <p:nvPr/>
        </p:nvGrpSpPr>
        <p:grpSpPr>
          <a:xfrm rot="-5400000">
            <a:off x="11942919" y="5133976"/>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31F20"/>
            </a:solidFill>
          </p:spPr>
        </p:sp>
      </p:grpSp>
      <p:grpSp>
        <p:nvGrpSpPr>
          <p:cNvPr name="Group 8" id="8"/>
          <p:cNvGrpSpPr/>
          <p:nvPr/>
        </p:nvGrpSpPr>
        <p:grpSpPr>
          <a:xfrm rot="0">
            <a:off x="0" y="0"/>
            <a:ext cx="6825289" cy="10287000"/>
            <a:chOff x="0" y="0"/>
            <a:chExt cx="9100385" cy="13716000"/>
          </a:xfrm>
        </p:grpSpPr>
        <p:sp>
          <p:nvSpPr>
            <p:cNvPr name="Freeform 9" id="9"/>
            <p:cNvSpPr/>
            <p:nvPr/>
          </p:nvSpPr>
          <p:spPr>
            <a:xfrm flipH="false" flipV="false" rot="0">
              <a:off x="0" y="0"/>
              <a:ext cx="9100439" cy="13716000"/>
            </a:xfrm>
            <a:custGeom>
              <a:avLst/>
              <a:gdLst/>
              <a:ahLst/>
              <a:cxnLst/>
              <a:rect r="r" b="b" t="t" l="l"/>
              <a:pathLst>
                <a:path h="13716000" w="9100439">
                  <a:moveTo>
                    <a:pt x="0" y="0"/>
                  </a:moveTo>
                  <a:lnTo>
                    <a:pt x="9100439" y="0"/>
                  </a:lnTo>
                  <a:lnTo>
                    <a:pt x="9100439" y="13716000"/>
                  </a:lnTo>
                  <a:lnTo>
                    <a:pt x="0" y="13716000"/>
                  </a:lnTo>
                  <a:close/>
                </a:path>
              </a:pathLst>
            </a:custGeom>
            <a:solidFill>
              <a:srgbClr val="292727"/>
            </a:solidFill>
          </p:spPr>
        </p:sp>
      </p:grpSp>
      <p:sp>
        <p:nvSpPr>
          <p:cNvPr name="TextBox 10" id="10"/>
          <p:cNvSpPr txBox="true"/>
          <p:nvPr/>
        </p:nvSpPr>
        <p:spPr>
          <a:xfrm rot="0">
            <a:off x="7906893" y="1908236"/>
            <a:ext cx="7180707" cy="885230"/>
          </a:xfrm>
          <a:prstGeom prst="rect">
            <a:avLst/>
          </a:prstGeom>
        </p:spPr>
        <p:txBody>
          <a:bodyPr anchor="t" rtlCol="false" tIns="0" lIns="0" bIns="0" rIns="0">
            <a:spAutoFit/>
          </a:bodyPr>
          <a:lstStyle/>
          <a:p>
            <a:pPr algn="l">
              <a:lnSpc>
                <a:spcPts val="2361"/>
              </a:lnSpc>
            </a:pPr>
            <a:r>
              <a:rPr lang="en-US" sz="2400">
                <a:solidFill>
                  <a:srgbClr val="292727"/>
                </a:solidFill>
                <a:latin typeface="Cy Grotesk Key"/>
                <a:ea typeface="Cy Grotesk Key"/>
                <a:cs typeface="Cy Grotesk Key"/>
                <a:sym typeface="Cy Grotesk Key"/>
              </a:rPr>
              <a:t>Las enfermedades priónicas son incurables; comprender su conversión es clave para futuras terapias.</a:t>
            </a:r>
          </a:p>
        </p:txBody>
      </p:sp>
      <p:sp>
        <p:nvSpPr>
          <p:cNvPr name="TextBox 11" id="11"/>
          <p:cNvSpPr txBox="true"/>
          <p:nvPr/>
        </p:nvSpPr>
        <p:spPr>
          <a:xfrm rot="0">
            <a:off x="7906893" y="3907980"/>
            <a:ext cx="6825289" cy="1500783"/>
          </a:xfrm>
          <a:prstGeom prst="rect">
            <a:avLst/>
          </a:prstGeom>
        </p:spPr>
        <p:txBody>
          <a:bodyPr anchor="t" rtlCol="false" tIns="0" lIns="0" bIns="0" rIns="0">
            <a:spAutoFit/>
          </a:bodyPr>
          <a:lstStyle/>
          <a:p>
            <a:pPr algn="l">
              <a:lnSpc>
                <a:spcPts val="2361"/>
              </a:lnSpc>
            </a:pPr>
            <a:r>
              <a:rPr lang="en-US" sz="2400">
                <a:solidFill>
                  <a:srgbClr val="292727"/>
                </a:solidFill>
                <a:latin typeface="Cy Grotesk Key"/>
                <a:ea typeface="Cy Grotesk Key"/>
                <a:cs typeface="Cy Grotesk Key"/>
                <a:sym typeface="Cy Grotesk Key"/>
              </a:rPr>
              <a:t>MetaPrion ofrece una perspectiva basada en computación que puede analizar espacios energéticos complejos en los que los métodos tradicionales no son efectivos.</a:t>
            </a:r>
          </a:p>
        </p:txBody>
      </p:sp>
      <p:sp>
        <p:nvSpPr>
          <p:cNvPr name="TextBox 12" id="12"/>
          <p:cNvSpPr txBox="true"/>
          <p:nvPr/>
        </p:nvSpPr>
        <p:spPr>
          <a:xfrm rot="0">
            <a:off x="412234" y="892692"/>
            <a:ext cx="5689185" cy="2862924"/>
          </a:xfrm>
          <a:prstGeom prst="rect">
            <a:avLst/>
          </a:prstGeom>
        </p:spPr>
        <p:txBody>
          <a:bodyPr anchor="t" rtlCol="false" tIns="0" lIns="0" bIns="0" rIns="0">
            <a:spAutoFit/>
          </a:bodyPr>
          <a:lstStyle/>
          <a:p>
            <a:pPr algn="ctr">
              <a:lnSpc>
                <a:spcPts val="7102"/>
              </a:lnSpc>
            </a:pPr>
            <a:r>
              <a:rPr lang="en-US" sz="3600" spc="-166">
                <a:solidFill>
                  <a:srgbClr val="B8D9EF"/>
                </a:solidFill>
                <a:latin typeface="Cy Grotesk Wide"/>
                <a:ea typeface="Cy Grotesk Wide"/>
                <a:cs typeface="Cy Grotesk Wide"/>
                <a:sym typeface="Cy Grotesk Wide"/>
              </a:rPr>
              <a:t>Importancia desde el punto de vista científico y tecnológico</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31F20"/>
            </a:solidFill>
          </p:spPr>
        </p:sp>
      </p:grpSp>
      <p:grpSp>
        <p:nvGrpSpPr>
          <p:cNvPr name="Group 4" id="4"/>
          <p:cNvGrpSpPr/>
          <p:nvPr/>
        </p:nvGrpSpPr>
        <p:grpSpPr>
          <a:xfrm rot="0">
            <a:off x="-175272" y="9253538"/>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31F20"/>
            </a:solidFill>
          </p:spPr>
        </p:sp>
      </p:grpSp>
      <p:grpSp>
        <p:nvGrpSpPr>
          <p:cNvPr name="Group 6" id="6"/>
          <p:cNvGrpSpPr/>
          <p:nvPr/>
        </p:nvGrpSpPr>
        <p:grpSpPr>
          <a:xfrm rot="-5400000">
            <a:off x="11942919" y="5133976"/>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31F20"/>
            </a:solidFill>
          </p:spPr>
        </p:sp>
      </p:grpSp>
      <p:grpSp>
        <p:nvGrpSpPr>
          <p:cNvPr name="Group 8" id="8"/>
          <p:cNvGrpSpPr/>
          <p:nvPr/>
        </p:nvGrpSpPr>
        <p:grpSpPr>
          <a:xfrm rot="0">
            <a:off x="0" y="0"/>
            <a:ext cx="6825289" cy="10287000"/>
            <a:chOff x="0" y="0"/>
            <a:chExt cx="9100385" cy="13716000"/>
          </a:xfrm>
        </p:grpSpPr>
        <p:sp>
          <p:nvSpPr>
            <p:cNvPr name="Freeform 9" id="9"/>
            <p:cNvSpPr/>
            <p:nvPr/>
          </p:nvSpPr>
          <p:spPr>
            <a:xfrm flipH="false" flipV="false" rot="0">
              <a:off x="0" y="0"/>
              <a:ext cx="9100439" cy="13716000"/>
            </a:xfrm>
            <a:custGeom>
              <a:avLst/>
              <a:gdLst/>
              <a:ahLst/>
              <a:cxnLst/>
              <a:rect r="r" b="b" t="t" l="l"/>
              <a:pathLst>
                <a:path h="13716000" w="9100439">
                  <a:moveTo>
                    <a:pt x="0" y="0"/>
                  </a:moveTo>
                  <a:lnTo>
                    <a:pt x="9100439" y="0"/>
                  </a:lnTo>
                  <a:lnTo>
                    <a:pt x="9100439" y="13716000"/>
                  </a:lnTo>
                  <a:lnTo>
                    <a:pt x="0" y="13716000"/>
                  </a:lnTo>
                  <a:close/>
                </a:path>
              </a:pathLst>
            </a:custGeom>
            <a:solidFill>
              <a:srgbClr val="292727"/>
            </a:solidFill>
          </p:spPr>
        </p:sp>
      </p:grpSp>
      <p:sp>
        <p:nvSpPr>
          <p:cNvPr name="TextBox 10" id="10"/>
          <p:cNvSpPr txBox="true"/>
          <p:nvPr/>
        </p:nvSpPr>
        <p:spPr>
          <a:xfrm rot="0">
            <a:off x="7906893" y="2076451"/>
            <a:ext cx="7180707" cy="1500783"/>
          </a:xfrm>
          <a:prstGeom prst="rect">
            <a:avLst/>
          </a:prstGeom>
        </p:spPr>
        <p:txBody>
          <a:bodyPr anchor="t" rtlCol="false" tIns="0" lIns="0" bIns="0" rIns="0">
            <a:spAutoFit/>
          </a:bodyPr>
          <a:lstStyle/>
          <a:p>
            <a:pPr algn="l">
              <a:lnSpc>
                <a:spcPts val="2361"/>
              </a:lnSpc>
            </a:pPr>
            <a:r>
              <a:rPr lang="en-US" sz="2400">
                <a:solidFill>
                  <a:srgbClr val="292727"/>
                </a:solidFill>
                <a:latin typeface="Cy Grotesk Key"/>
                <a:ea typeface="Cy Grotesk Key"/>
                <a:cs typeface="Cy Grotesk Key"/>
                <a:sym typeface="Cy Grotesk Key"/>
              </a:rPr>
              <a:t>Contribuye con herramientas que tienen el potencial de robustecer la capacitación interdisciplinaria de los investigadores en computación y biología.</a:t>
            </a:r>
          </a:p>
          <a:p>
            <a:pPr algn="l">
              <a:lnSpc>
                <a:spcPts val="2361"/>
              </a:lnSpc>
            </a:pPr>
          </a:p>
        </p:txBody>
      </p:sp>
      <p:sp>
        <p:nvSpPr>
          <p:cNvPr name="TextBox 11" id="11"/>
          <p:cNvSpPr txBox="true"/>
          <p:nvPr/>
        </p:nvSpPr>
        <p:spPr>
          <a:xfrm rot="0">
            <a:off x="7906893" y="4253508"/>
            <a:ext cx="6825289" cy="885230"/>
          </a:xfrm>
          <a:prstGeom prst="rect">
            <a:avLst/>
          </a:prstGeom>
        </p:spPr>
        <p:txBody>
          <a:bodyPr anchor="t" rtlCol="false" tIns="0" lIns="0" bIns="0" rIns="0">
            <a:spAutoFit/>
          </a:bodyPr>
          <a:lstStyle/>
          <a:p>
            <a:pPr algn="l">
              <a:lnSpc>
                <a:spcPts val="2361"/>
              </a:lnSpc>
            </a:pPr>
            <a:r>
              <a:rPr lang="en-US" sz="2400">
                <a:solidFill>
                  <a:srgbClr val="292727"/>
                </a:solidFill>
                <a:latin typeface="Cy Grotesk Key"/>
                <a:ea typeface="Cy Grotesk Key"/>
                <a:cs typeface="Cy Grotesk Key"/>
                <a:sym typeface="Cy Grotesk Key"/>
              </a:rPr>
              <a:t>Refuerza el puente puente entre la experimentación biológica y la simulación computacional.</a:t>
            </a:r>
          </a:p>
        </p:txBody>
      </p:sp>
      <p:sp>
        <p:nvSpPr>
          <p:cNvPr name="TextBox 12" id="12"/>
          <p:cNvSpPr txBox="true"/>
          <p:nvPr/>
        </p:nvSpPr>
        <p:spPr>
          <a:xfrm rot="0">
            <a:off x="355807" y="1820244"/>
            <a:ext cx="5689185" cy="1952418"/>
          </a:xfrm>
          <a:prstGeom prst="rect">
            <a:avLst/>
          </a:prstGeom>
        </p:spPr>
        <p:txBody>
          <a:bodyPr anchor="t" rtlCol="false" tIns="0" lIns="0" bIns="0" rIns="0">
            <a:spAutoFit/>
          </a:bodyPr>
          <a:lstStyle/>
          <a:p>
            <a:pPr algn="ctr">
              <a:lnSpc>
                <a:spcPts val="7102"/>
              </a:lnSpc>
            </a:pPr>
            <a:r>
              <a:rPr lang="en-US" sz="3600" spc="-166">
                <a:solidFill>
                  <a:srgbClr val="B8D9EF"/>
                </a:solidFill>
                <a:latin typeface="Cy Grotesk Wide"/>
                <a:ea typeface="Cy Grotesk Wide"/>
                <a:cs typeface="Cy Grotesk Wide"/>
                <a:sym typeface="Cy Grotesk Wide"/>
              </a:rPr>
              <a:t>Impacto educativo</a:t>
            </a:r>
          </a:p>
          <a:p>
            <a:pPr algn="ctr">
              <a:lnSpc>
                <a:spcPts val="7102"/>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5900758" y="4686226"/>
            <a:ext cx="6486483" cy="952649"/>
          </a:xfrm>
          <a:prstGeom prst="rect">
            <a:avLst/>
          </a:prstGeom>
        </p:spPr>
        <p:txBody>
          <a:bodyPr anchor="t" rtlCol="false" tIns="0" lIns="0" bIns="0" rIns="0">
            <a:spAutoFit/>
          </a:bodyPr>
          <a:lstStyle/>
          <a:p>
            <a:pPr algn="ctr">
              <a:lnSpc>
                <a:spcPts val="7770"/>
              </a:lnSpc>
            </a:pPr>
            <a:r>
              <a:rPr lang="en-US" sz="7000" spc="-182">
                <a:solidFill>
                  <a:srgbClr val="292727"/>
                </a:solidFill>
                <a:latin typeface="Cy Grotesk Key"/>
                <a:ea typeface="Cy Grotesk Key"/>
                <a:cs typeface="Cy Grotesk Key"/>
                <a:sym typeface="Cy Grotesk Key"/>
              </a:rPr>
              <a:t>Actualidad</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292727"/>
        </a:solidFill>
      </p:bgPr>
    </p:bg>
    <p:spTree>
      <p:nvGrpSpPr>
        <p:cNvPr id="1" name=""/>
        <p:cNvGrpSpPr/>
        <p:nvPr/>
      </p:nvGrpSpPr>
      <p:grpSpPr>
        <a:xfrm>
          <a:off x="0" y="0"/>
          <a:ext cx="0" cy="0"/>
          <a:chOff x="0" y="0"/>
          <a:chExt cx="0" cy="0"/>
        </a:xfrm>
      </p:grpSpPr>
      <p:sp>
        <p:nvSpPr>
          <p:cNvPr name="TextBox 2" id="2"/>
          <p:cNvSpPr txBox="true"/>
          <p:nvPr/>
        </p:nvSpPr>
        <p:spPr>
          <a:xfrm rot="0">
            <a:off x="10117312" y="4457988"/>
            <a:ext cx="6103298" cy="1594843"/>
          </a:xfrm>
          <a:prstGeom prst="rect">
            <a:avLst/>
          </a:prstGeom>
        </p:spPr>
        <p:txBody>
          <a:bodyPr anchor="t" rtlCol="false" tIns="0" lIns="0" bIns="0" rIns="0">
            <a:spAutoFit/>
          </a:bodyPr>
          <a:lstStyle/>
          <a:p>
            <a:pPr algn="l">
              <a:lnSpc>
                <a:spcPts val="3078"/>
              </a:lnSpc>
            </a:pPr>
            <a:r>
              <a:rPr lang="en-US" sz="2199">
                <a:solidFill>
                  <a:srgbClr val="F6F0EB"/>
                </a:solidFill>
                <a:latin typeface="Cy Grotesk Key"/>
                <a:ea typeface="Cy Grotesk Key"/>
                <a:cs typeface="Cy Grotesk Key"/>
                <a:sym typeface="Cy Grotesk Key"/>
              </a:rPr>
              <a:t>Aunque los métodos experimentales han mostrado diferencias estructurales (de hélices alfa a láminas beta), no logran captar el proceso dinámico de conversión. </a:t>
            </a:r>
          </a:p>
        </p:txBody>
      </p:sp>
      <p:sp>
        <p:nvSpPr>
          <p:cNvPr name="TextBox 3" id="3"/>
          <p:cNvSpPr txBox="true"/>
          <p:nvPr/>
        </p:nvSpPr>
        <p:spPr>
          <a:xfrm rot="0">
            <a:off x="2239895" y="1729193"/>
            <a:ext cx="6600601" cy="1782911"/>
          </a:xfrm>
          <a:prstGeom prst="rect">
            <a:avLst/>
          </a:prstGeom>
        </p:spPr>
        <p:txBody>
          <a:bodyPr anchor="t" rtlCol="false" tIns="0" lIns="0" bIns="0" rIns="0">
            <a:spAutoFit/>
          </a:bodyPr>
          <a:lstStyle/>
          <a:p>
            <a:pPr algn="l">
              <a:lnSpc>
                <a:spcPts val="7103"/>
              </a:lnSpc>
            </a:pPr>
            <a:r>
              <a:rPr lang="en-US" sz="6398" spc="-165">
                <a:solidFill>
                  <a:srgbClr val="EDDED2"/>
                </a:solidFill>
                <a:latin typeface="Cy Grotesk Wide"/>
                <a:ea typeface="Cy Grotesk Wide"/>
                <a:cs typeface="Cy Grotesk Wide"/>
                <a:sym typeface="Cy Grotesk Wide"/>
              </a:rPr>
              <a:t>Conocimiento </a:t>
            </a:r>
          </a:p>
          <a:p>
            <a:pPr algn="l">
              <a:lnSpc>
                <a:spcPts val="7103"/>
              </a:lnSpc>
            </a:pPr>
            <a:r>
              <a:rPr lang="en-US" sz="6398" spc="-165">
                <a:solidFill>
                  <a:srgbClr val="EDDED2"/>
                </a:solidFill>
                <a:latin typeface="Cy Grotesk Wide"/>
                <a:ea typeface="Cy Grotesk Wide"/>
                <a:cs typeface="Cy Grotesk Wide"/>
                <a:sym typeface="Cy Grotesk Wide"/>
              </a:rPr>
              <a:t>actual</a:t>
            </a:r>
          </a:p>
        </p:txBody>
      </p:sp>
      <p:sp>
        <p:nvSpPr>
          <p:cNvPr name="TextBox 4" id="4"/>
          <p:cNvSpPr txBox="true"/>
          <p:nvPr/>
        </p:nvSpPr>
        <p:spPr>
          <a:xfrm rot="0">
            <a:off x="1028700" y="1570089"/>
            <a:ext cx="3951619" cy="249075"/>
          </a:xfrm>
          <a:prstGeom prst="rect">
            <a:avLst/>
          </a:prstGeom>
        </p:spPr>
        <p:txBody>
          <a:bodyPr anchor="t" rtlCol="false" tIns="0" lIns="0" bIns="0" rIns="0">
            <a:spAutoFit/>
          </a:bodyPr>
          <a:lstStyle/>
          <a:p>
            <a:pPr algn="l">
              <a:lnSpc>
                <a:spcPts val="1998"/>
              </a:lnSpc>
            </a:pPr>
            <a:r>
              <a:rPr lang="en-US" sz="1800" spc="-46">
                <a:solidFill>
                  <a:srgbClr val="292727"/>
                </a:solidFill>
                <a:latin typeface="Cy Grotesk Key"/>
                <a:ea typeface="Cy Grotesk Key"/>
                <a:cs typeface="Cy Grotesk Key"/>
                <a:sym typeface="Cy Grotesk Key"/>
              </a:rPr>
              <a:t>Antes del estudio</a:t>
            </a:r>
          </a:p>
        </p:txBody>
      </p:sp>
      <p:sp>
        <p:nvSpPr>
          <p:cNvPr name="TextBox 5" id="5"/>
          <p:cNvSpPr txBox="true"/>
          <p:nvPr/>
        </p:nvSpPr>
        <p:spPr>
          <a:xfrm rot="0">
            <a:off x="5192381" y="1570089"/>
            <a:ext cx="3951619" cy="249075"/>
          </a:xfrm>
          <a:prstGeom prst="rect">
            <a:avLst/>
          </a:prstGeom>
        </p:spPr>
        <p:txBody>
          <a:bodyPr anchor="t" rtlCol="false" tIns="0" lIns="0" bIns="0" rIns="0">
            <a:spAutoFit/>
          </a:bodyPr>
          <a:lstStyle/>
          <a:p>
            <a:pPr algn="l">
              <a:lnSpc>
                <a:spcPts val="1998"/>
              </a:lnSpc>
            </a:pPr>
            <a:r>
              <a:rPr lang="en-US" sz="1800" spc="-46">
                <a:solidFill>
                  <a:srgbClr val="292727"/>
                </a:solidFill>
                <a:latin typeface="Cy Grotesk Key"/>
                <a:ea typeface="Cy Grotesk Key"/>
                <a:cs typeface="Cy Grotesk Key"/>
                <a:sym typeface="Cy Grotesk Key"/>
              </a:rPr>
              <a:t>Después del estudio</a:t>
            </a:r>
          </a:p>
        </p:txBody>
      </p:sp>
      <p:sp>
        <p:nvSpPr>
          <p:cNvPr name="TextBox 6" id="6"/>
          <p:cNvSpPr txBox="true"/>
          <p:nvPr/>
        </p:nvSpPr>
        <p:spPr>
          <a:xfrm rot="0">
            <a:off x="10365040" y="7542336"/>
            <a:ext cx="3625358" cy="311719"/>
          </a:xfrm>
          <a:prstGeom prst="rect">
            <a:avLst/>
          </a:prstGeom>
        </p:spPr>
        <p:txBody>
          <a:bodyPr anchor="t" rtlCol="false" tIns="0" lIns="0" bIns="0" rIns="0">
            <a:spAutoFit/>
          </a:bodyPr>
          <a:lstStyle/>
          <a:p>
            <a:pPr algn="ctr">
              <a:lnSpc>
                <a:spcPts val="2238"/>
              </a:lnSpc>
            </a:pPr>
            <a:r>
              <a:rPr lang="en-US" b="true" sz="1599" spc="76">
                <a:solidFill>
                  <a:srgbClr val="292727"/>
                </a:solidFill>
                <a:latin typeface="Cy Grotesk Key Bold"/>
                <a:ea typeface="Cy Grotesk Key Bold"/>
                <a:cs typeface="Cy Grotesk Key Bold"/>
                <a:sym typeface="Cy Grotesk Key Bold"/>
              </a:rPr>
              <a:t>Ver más información</a:t>
            </a:r>
          </a:p>
        </p:txBody>
      </p:sp>
      <p:grpSp>
        <p:nvGrpSpPr>
          <p:cNvPr name="Group 7" id="7"/>
          <p:cNvGrpSpPr/>
          <p:nvPr/>
        </p:nvGrpSpPr>
        <p:grpSpPr>
          <a:xfrm rot="0">
            <a:off x="-175272" y="1014412"/>
            <a:ext cx="18468035" cy="9525"/>
            <a:chOff x="0" y="0"/>
            <a:chExt cx="24624047" cy="12700"/>
          </a:xfrm>
        </p:grpSpPr>
        <p:sp>
          <p:nvSpPr>
            <p:cNvPr name="Freeform 8" id="8"/>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9" id="9"/>
          <p:cNvGrpSpPr/>
          <p:nvPr/>
        </p:nvGrpSpPr>
        <p:grpSpPr>
          <a:xfrm rot="0">
            <a:off x="-175272" y="9253538"/>
            <a:ext cx="18468035" cy="9525"/>
            <a:chOff x="0" y="0"/>
            <a:chExt cx="24624047" cy="12700"/>
          </a:xfrm>
        </p:grpSpPr>
        <p:sp>
          <p:nvSpPr>
            <p:cNvPr name="Freeform 10" id="10"/>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11" id="11"/>
          <p:cNvGrpSpPr/>
          <p:nvPr/>
        </p:nvGrpSpPr>
        <p:grpSpPr>
          <a:xfrm rot="-5400000">
            <a:off x="11942919" y="5133976"/>
            <a:ext cx="10296525" cy="9525"/>
            <a:chOff x="0" y="0"/>
            <a:chExt cx="13728700" cy="12700"/>
          </a:xfrm>
        </p:grpSpPr>
        <p:sp>
          <p:nvSpPr>
            <p:cNvPr name="Freeform 12" id="12"/>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grpSp>
        <p:nvGrpSpPr>
          <p:cNvPr name="Group 13" id="13"/>
          <p:cNvGrpSpPr/>
          <p:nvPr/>
        </p:nvGrpSpPr>
        <p:grpSpPr>
          <a:xfrm rot="-5400000">
            <a:off x="-4114800" y="5133975"/>
            <a:ext cx="10296525" cy="9525"/>
            <a:chOff x="0" y="0"/>
            <a:chExt cx="13728700" cy="12700"/>
          </a:xfrm>
        </p:grpSpPr>
        <p:sp>
          <p:nvSpPr>
            <p:cNvPr name="Freeform 14" id="14"/>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sp>
        <p:nvSpPr>
          <p:cNvPr name="TextBox 15" id="15"/>
          <p:cNvSpPr txBox="true"/>
          <p:nvPr/>
        </p:nvSpPr>
        <p:spPr>
          <a:xfrm rot="0">
            <a:off x="2237437" y="4457988"/>
            <a:ext cx="6103298" cy="1594843"/>
          </a:xfrm>
          <a:prstGeom prst="rect">
            <a:avLst/>
          </a:prstGeom>
        </p:spPr>
        <p:txBody>
          <a:bodyPr anchor="t" rtlCol="false" tIns="0" lIns="0" bIns="0" rIns="0">
            <a:spAutoFit/>
          </a:bodyPr>
          <a:lstStyle/>
          <a:p>
            <a:pPr algn="l">
              <a:lnSpc>
                <a:spcPts val="3078"/>
              </a:lnSpc>
            </a:pPr>
            <a:r>
              <a:rPr lang="en-US" sz="2199">
                <a:solidFill>
                  <a:srgbClr val="F6F0EB"/>
                </a:solidFill>
                <a:latin typeface="Cy Grotesk Key"/>
                <a:ea typeface="Cy Grotesk Key"/>
                <a:cs typeface="Cy Grotesk Key"/>
                <a:sym typeface="Cy Grotesk Key"/>
              </a:rPr>
              <a:t>Las enfermedades priónicas involucran una transformación estructural que convierte proteínas funcionales en agentes patológicos.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0EB"/>
        </a:solidFill>
      </p:bgPr>
    </p:bg>
    <p:spTree>
      <p:nvGrpSpPr>
        <p:cNvPr id="1" name=""/>
        <p:cNvGrpSpPr/>
        <p:nvPr/>
      </p:nvGrpSpPr>
      <p:grpSpPr>
        <a:xfrm>
          <a:off x="0" y="0"/>
          <a:ext cx="0" cy="0"/>
          <a:chOff x="0" y="0"/>
          <a:chExt cx="0" cy="0"/>
        </a:xfrm>
      </p:grpSpPr>
      <p:sp>
        <p:nvSpPr>
          <p:cNvPr name="TextBox 2" id="2"/>
          <p:cNvSpPr txBox="true"/>
          <p:nvPr/>
        </p:nvSpPr>
        <p:spPr>
          <a:xfrm rot="0">
            <a:off x="1560293" y="4514824"/>
            <a:ext cx="7729089" cy="2232932"/>
          </a:xfrm>
          <a:prstGeom prst="rect">
            <a:avLst/>
          </a:prstGeom>
        </p:spPr>
        <p:txBody>
          <a:bodyPr anchor="t" rtlCol="false" tIns="0" lIns="0" bIns="0" rIns="0">
            <a:spAutoFit/>
          </a:bodyPr>
          <a:lstStyle/>
          <a:p>
            <a:pPr algn="l">
              <a:lnSpc>
                <a:spcPts val="2947"/>
              </a:lnSpc>
            </a:pPr>
            <a:r>
              <a:rPr lang="en-US" sz="2199" spc="-57">
                <a:solidFill>
                  <a:srgbClr val="292727"/>
                </a:solidFill>
                <a:latin typeface="Cy Grotesk Key"/>
                <a:ea typeface="Cy Grotesk Key"/>
                <a:cs typeface="Cy Grotesk Key"/>
                <a:sym typeface="Cy Grotesk Key"/>
              </a:rPr>
              <a:t>Aunque se han utilizado simulaciones moleculares (REMD, MD, Metadynamics y MSM), estas están restringidas debido al tiempo y el costo computacional.</a:t>
            </a:r>
          </a:p>
          <a:p>
            <a:pPr algn="l">
              <a:lnSpc>
                <a:spcPts val="2947"/>
              </a:lnSpc>
            </a:pPr>
          </a:p>
          <a:p>
            <a:pPr algn="l">
              <a:lnSpc>
                <a:spcPts val="2947"/>
              </a:lnSpc>
            </a:pPr>
            <a:r>
              <a:rPr lang="en-US" sz="2199" spc="-57">
                <a:solidFill>
                  <a:srgbClr val="292727"/>
                </a:solidFill>
                <a:latin typeface="Cy Grotesk Key"/>
                <a:ea typeface="Cy Grotesk Key"/>
                <a:cs typeface="Cy Grotesk Key"/>
                <a:sym typeface="Cy Grotesk Key"/>
              </a:rPr>
              <a:t>Aunque los modelos simplificados a menudo quedan atrapados en mínimos locales, posibilitan el progreso. </a:t>
            </a:r>
          </a:p>
        </p:txBody>
      </p:sp>
      <p:sp>
        <p:nvSpPr>
          <p:cNvPr name="TextBox 3" id="3"/>
          <p:cNvSpPr txBox="true"/>
          <p:nvPr/>
        </p:nvSpPr>
        <p:spPr>
          <a:xfrm rot="0">
            <a:off x="1553863" y="1941257"/>
            <a:ext cx="8732033" cy="1808084"/>
          </a:xfrm>
          <a:prstGeom prst="rect">
            <a:avLst/>
          </a:prstGeom>
        </p:spPr>
        <p:txBody>
          <a:bodyPr anchor="t" rtlCol="false" tIns="0" lIns="0" bIns="0" rIns="0">
            <a:spAutoFit/>
          </a:bodyPr>
          <a:lstStyle/>
          <a:p>
            <a:pPr algn="l">
              <a:lnSpc>
                <a:spcPts val="7103"/>
              </a:lnSpc>
            </a:pPr>
            <a:r>
              <a:rPr lang="en-US" sz="5400">
                <a:solidFill>
                  <a:srgbClr val="292727"/>
                </a:solidFill>
                <a:latin typeface="Cy Grotesk Wide"/>
                <a:ea typeface="Cy Grotesk Wide"/>
                <a:cs typeface="Cy Grotesk Wide"/>
                <a:sym typeface="Cy Grotesk Wide"/>
              </a:rPr>
              <a:t>Modelos informáticos anteriores</a:t>
            </a:r>
          </a:p>
        </p:txBody>
      </p:sp>
      <p:grpSp>
        <p:nvGrpSpPr>
          <p:cNvPr name="Group 4" id="4"/>
          <p:cNvGrpSpPr/>
          <p:nvPr/>
        </p:nvGrpSpPr>
        <p:grpSpPr>
          <a:xfrm rot="0">
            <a:off x="-175272" y="1014412"/>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6" id="6"/>
          <p:cNvGrpSpPr/>
          <p:nvPr/>
        </p:nvGrpSpPr>
        <p:grpSpPr>
          <a:xfrm rot="0">
            <a:off x="-4762" y="9253538"/>
            <a:ext cx="18297525" cy="9525"/>
            <a:chOff x="0" y="0"/>
            <a:chExt cx="24396700" cy="12700"/>
          </a:xfrm>
        </p:grpSpPr>
        <p:sp>
          <p:nvSpPr>
            <p:cNvPr name="Freeform 7" id="7"/>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8" id="8"/>
          <p:cNvGrpSpPr/>
          <p:nvPr/>
        </p:nvGrpSpPr>
        <p:grpSpPr>
          <a:xfrm rot="-5400000">
            <a:off x="-4114800" y="5133975"/>
            <a:ext cx="10296525" cy="9525"/>
            <a:chOff x="0" y="0"/>
            <a:chExt cx="13728700" cy="12700"/>
          </a:xfrm>
        </p:grpSpPr>
        <p:sp>
          <p:nvSpPr>
            <p:cNvPr name="Freeform 9" id="9"/>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10" id="10"/>
          <p:cNvGrpSpPr/>
          <p:nvPr/>
        </p:nvGrpSpPr>
        <p:grpSpPr>
          <a:xfrm rot="-5400000">
            <a:off x="11942919" y="5133976"/>
            <a:ext cx="10296525" cy="9525"/>
            <a:chOff x="0" y="0"/>
            <a:chExt cx="13728700" cy="12700"/>
          </a:xfrm>
        </p:grpSpPr>
        <p:sp>
          <p:nvSpPr>
            <p:cNvPr name="Freeform 11" id="11"/>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12" id="12"/>
          <p:cNvGrpSpPr>
            <a:grpSpLocks noChangeAspect="true"/>
          </p:cNvGrpSpPr>
          <p:nvPr/>
        </p:nvGrpSpPr>
        <p:grpSpPr>
          <a:xfrm rot="0">
            <a:off x="11330208" y="3009900"/>
            <a:ext cx="4784090" cy="5055762"/>
            <a:chOff x="0" y="0"/>
            <a:chExt cx="7077337" cy="7479236"/>
          </a:xfrm>
        </p:grpSpPr>
        <p:sp>
          <p:nvSpPr>
            <p:cNvPr name="Freeform 13" id="13"/>
            <p:cNvSpPr/>
            <p:nvPr/>
          </p:nvSpPr>
          <p:spPr>
            <a:xfrm flipH="false" flipV="false" rot="0">
              <a:off x="0" y="0"/>
              <a:ext cx="7077329" cy="7479284"/>
            </a:xfrm>
            <a:custGeom>
              <a:avLst/>
              <a:gdLst/>
              <a:ahLst/>
              <a:cxnLst/>
              <a:rect r="r" b="b" t="t" l="l"/>
              <a:pathLst>
                <a:path h="7479284" w="7077329">
                  <a:moveTo>
                    <a:pt x="0" y="0"/>
                  </a:moveTo>
                  <a:lnTo>
                    <a:pt x="7077329" y="0"/>
                  </a:lnTo>
                  <a:lnTo>
                    <a:pt x="7077329" y="7479284"/>
                  </a:lnTo>
                  <a:lnTo>
                    <a:pt x="0" y="7479284"/>
                  </a:lnTo>
                  <a:lnTo>
                    <a:pt x="0" y="0"/>
                  </a:lnTo>
                  <a:close/>
                </a:path>
              </a:pathLst>
            </a:custGeom>
            <a:blipFill>
              <a:blip r:embed="rId2"/>
              <a:stretch>
                <a:fillRect l="0" t="0" r="0" b="0"/>
              </a:stretch>
            </a:blipFill>
          </p:spPr>
        </p:sp>
      </p:grpSp>
      <p:grpSp>
        <p:nvGrpSpPr>
          <p:cNvPr name="Group 14" id="14"/>
          <p:cNvGrpSpPr/>
          <p:nvPr/>
        </p:nvGrpSpPr>
        <p:grpSpPr>
          <a:xfrm rot="0">
            <a:off x="10483967" y="8065662"/>
            <a:ext cx="6476573" cy="910020"/>
            <a:chOff x="0" y="0"/>
            <a:chExt cx="8635430" cy="1213360"/>
          </a:xfrm>
        </p:grpSpPr>
        <p:grpSp>
          <p:nvGrpSpPr>
            <p:cNvPr name="Group 15" id="15"/>
            <p:cNvGrpSpPr/>
            <p:nvPr/>
          </p:nvGrpSpPr>
          <p:grpSpPr>
            <a:xfrm rot="0">
              <a:off x="0" y="0"/>
              <a:ext cx="8635430" cy="1213360"/>
              <a:chOff x="0" y="0"/>
              <a:chExt cx="9631326" cy="1353293"/>
            </a:xfrm>
          </p:grpSpPr>
          <p:sp>
            <p:nvSpPr>
              <p:cNvPr name="Freeform 16" id="16"/>
              <p:cNvSpPr/>
              <p:nvPr/>
            </p:nvSpPr>
            <p:spPr>
              <a:xfrm flipH="false" flipV="false" rot="0">
                <a:off x="0" y="0"/>
                <a:ext cx="9631357" cy="1353318"/>
              </a:xfrm>
              <a:custGeom>
                <a:avLst/>
                <a:gdLst/>
                <a:ahLst/>
                <a:cxnLst/>
                <a:rect r="r" b="b" t="t" l="l"/>
                <a:pathLst>
                  <a:path h="1353318" w="9631357">
                    <a:moveTo>
                      <a:pt x="0" y="0"/>
                    </a:moveTo>
                    <a:lnTo>
                      <a:pt x="9631357" y="0"/>
                    </a:lnTo>
                    <a:lnTo>
                      <a:pt x="9631357" y="1353318"/>
                    </a:lnTo>
                    <a:lnTo>
                      <a:pt x="0" y="1353318"/>
                    </a:lnTo>
                    <a:close/>
                  </a:path>
                </a:pathLst>
              </a:custGeom>
              <a:solidFill>
                <a:srgbClr val="88A7F3"/>
              </a:solidFill>
            </p:spPr>
          </p:sp>
        </p:grpSp>
        <p:sp>
          <p:nvSpPr>
            <p:cNvPr name="TextBox 17" id="17"/>
            <p:cNvSpPr txBox="true"/>
            <p:nvPr/>
          </p:nvSpPr>
          <p:spPr>
            <a:xfrm rot="0">
              <a:off x="745069" y="454136"/>
              <a:ext cx="7145291" cy="349855"/>
            </a:xfrm>
            <a:prstGeom prst="rect">
              <a:avLst/>
            </a:prstGeom>
          </p:spPr>
          <p:txBody>
            <a:bodyPr anchor="t" rtlCol="false" tIns="0" lIns="0" bIns="0" rIns="0">
              <a:spAutoFit/>
            </a:bodyPr>
            <a:lstStyle/>
            <a:p>
              <a:pPr algn="ctr">
                <a:lnSpc>
                  <a:spcPts val="2119"/>
                </a:lnSpc>
              </a:pPr>
              <a:r>
                <a:rPr lang="en-US" sz="1703" spc="71">
                  <a:solidFill>
                    <a:srgbClr val="000000"/>
                  </a:solidFill>
                  <a:latin typeface="Cy Grotesk Key"/>
                  <a:ea typeface="Cy Grotesk Key"/>
                  <a:cs typeface="Cy Grotesk Key"/>
                  <a:sym typeface="Cy Grotesk Key"/>
                </a:rPr>
                <a:t>Representación de un modelo molecular 3D</a:t>
              </a:r>
            </a:p>
          </p:txBody>
        </p:sp>
      </p:grpSp>
    </p:spTree>
  </p:cSld>
  <p:clrMapOvr>
    <a:masterClrMapping/>
  </p:clrMapOvr>
</p:sld>
</file>

<file path=ppt/slides/slide17.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sp>
        <p:nvSpPr>
          <p:cNvPr name="TextBox 2" id="2"/>
          <p:cNvSpPr txBox="true"/>
          <p:nvPr/>
        </p:nvSpPr>
        <p:spPr>
          <a:xfrm rot="0">
            <a:off x="1355500" y="1435662"/>
            <a:ext cx="10379300" cy="1808084"/>
          </a:xfrm>
          <a:prstGeom prst="rect">
            <a:avLst/>
          </a:prstGeom>
        </p:spPr>
        <p:txBody>
          <a:bodyPr anchor="t" rtlCol="false" tIns="0" lIns="0" bIns="0" rIns="0">
            <a:spAutoFit/>
          </a:bodyPr>
          <a:lstStyle/>
          <a:p>
            <a:pPr algn="l">
              <a:lnSpc>
                <a:spcPts val="7103"/>
              </a:lnSpc>
            </a:pPr>
            <a:r>
              <a:rPr lang="en-US" sz="5400" spc="-166">
                <a:solidFill>
                  <a:srgbClr val="292727"/>
                </a:solidFill>
                <a:latin typeface="Cy Grotesk Wide"/>
                <a:ea typeface="Cy Grotesk Wide"/>
                <a:cs typeface="Cy Grotesk Wide"/>
                <a:sym typeface="Cy Grotesk Wide"/>
              </a:rPr>
              <a:t>Contribución de los algoritmos metaheurísticos</a:t>
            </a:r>
          </a:p>
        </p:txBody>
      </p:sp>
      <p:sp>
        <p:nvSpPr>
          <p:cNvPr name="TextBox 3" id="3"/>
          <p:cNvSpPr txBox="true"/>
          <p:nvPr/>
        </p:nvSpPr>
        <p:spPr>
          <a:xfrm rot="0">
            <a:off x="1384997" y="3698332"/>
            <a:ext cx="6920802" cy="3573041"/>
          </a:xfrm>
          <a:prstGeom prst="rect">
            <a:avLst/>
          </a:prstGeom>
        </p:spPr>
        <p:txBody>
          <a:bodyPr anchor="t" rtlCol="false" tIns="0" lIns="0" bIns="0" rIns="0">
            <a:spAutoFit/>
          </a:bodyPr>
          <a:lstStyle/>
          <a:p>
            <a:pPr algn="l">
              <a:lnSpc>
                <a:spcPts val="3079"/>
              </a:lnSpc>
            </a:pPr>
            <a:r>
              <a:rPr lang="en-US" sz="2200">
                <a:solidFill>
                  <a:srgbClr val="292727"/>
                </a:solidFill>
                <a:latin typeface="Cy Grotesk Key"/>
                <a:ea typeface="Cy Grotesk Key"/>
                <a:cs typeface="Cy Grotesk Key"/>
                <a:sym typeface="Cy Grotesk Key"/>
              </a:rPr>
              <a:t>Los procedimientos como NSGA-II, GA, PSO y SA posibilitan la exploración de espacios complicados y la evasión de mínimos locales.</a:t>
            </a:r>
          </a:p>
          <a:p>
            <a:pPr algn="l">
              <a:lnSpc>
                <a:spcPts val="3079"/>
              </a:lnSpc>
            </a:pPr>
            <a:r>
              <a:rPr lang="en-US" sz="2200">
                <a:solidFill>
                  <a:srgbClr val="292727"/>
                </a:solidFill>
                <a:latin typeface="Cy Grotesk Key"/>
                <a:ea typeface="Cy Grotesk Key"/>
                <a:cs typeface="Cy Grotesk Key"/>
                <a:sym typeface="Cy Grotesk Key"/>
              </a:rPr>
              <a:t>Han mostrado su capacidad para optimizar la energía y predecir estructuras.</a:t>
            </a:r>
          </a:p>
          <a:p>
            <a:pPr algn="l">
              <a:lnSpc>
                <a:spcPts val="3079"/>
              </a:lnSpc>
            </a:pPr>
          </a:p>
          <a:p>
            <a:pPr algn="l">
              <a:lnSpc>
                <a:spcPts val="3079"/>
              </a:lnSpc>
            </a:pPr>
            <a:r>
              <a:rPr lang="en-US" sz="2200">
                <a:solidFill>
                  <a:srgbClr val="292727"/>
                </a:solidFill>
                <a:latin typeface="Cy Grotesk Key"/>
                <a:ea typeface="Cy Grotesk Key"/>
                <a:cs typeface="Cy Grotesk Key"/>
                <a:sym typeface="Cy Grotesk Key"/>
              </a:rPr>
              <a:t>MetaPrion tiene como objetivo integrar diversos algoritmos en un marco de trabajo unificado y reproducible.</a:t>
            </a:r>
          </a:p>
        </p:txBody>
      </p:sp>
      <p:grpSp>
        <p:nvGrpSpPr>
          <p:cNvPr name="Group 4" id="4"/>
          <p:cNvGrpSpPr/>
          <p:nvPr/>
        </p:nvGrpSpPr>
        <p:grpSpPr>
          <a:xfrm rot="0">
            <a:off x="-175272" y="1014412"/>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6" id="6"/>
          <p:cNvGrpSpPr/>
          <p:nvPr/>
        </p:nvGrpSpPr>
        <p:grpSpPr>
          <a:xfrm rot="0">
            <a:off x="-175272" y="9253538"/>
            <a:ext cx="18468035" cy="9525"/>
            <a:chOff x="0" y="0"/>
            <a:chExt cx="24624047" cy="12700"/>
          </a:xfrm>
        </p:grpSpPr>
        <p:sp>
          <p:nvSpPr>
            <p:cNvPr name="Freeform 7" id="7"/>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8" id="8"/>
          <p:cNvGrpSpPr/>
          <p:nvPr/>
        </p:nvGrpSpPr>
        <p:grpSpPr>
          <a:xfrm rot="0">
            <a:off x="12511821" y="0"/>
            <a:ext cx="5776179" cy="10287000"/>
            <a:chOff x="0" y="0"/>
            <a:chExt cx="7701572" cy="13716000"/>
          </a:xfrm>
        </p:grpSpPr>
        <p:sp>
          <p:nvSpPr>
            <p:cNvPr name="Freeform 9" id="9"/>
            <p:cNvSpPr/>
            <p:nvPr/>
          </p:nvSpPr>
          <p:spPr>
            <a:xfrm flipH="false" flipV="false" rot="0">
              <a:off x="0" y="0"/>
              <a:ext cx="7701534" cy="13716000"/>
            </a:xfrm>
            <a:custGeom>
              <a:avLst/>
              <a:gdLst/>
              <a:ahLst/>
              <a:cxnLst/>
              <a:rect r="r" b="b" t="t" l="l"/>
              <a:pathLst>
                <a:path h="13716000" w="7701534">
                  <a:moveTo>
                    <a:pt x="0" y="0"/>
                  </a:moveTo>
                  <a:lnTo>
                    <a:pt x="7701534" y="0"/>
                  </a:lnTo>
                  <a:lnTo>
                    <a:pt x="7701534" y="13716000"/>
                  </a:lnTo>
                  <a:lnTo>
                    <a:pt x="0" y="13716000"/>
                  </a:lnTo>
                  <a:close/>
                </a:path>
              </a:pathLst>
            </a:custGeom>
            <a:solidFill>
              <a:srgbClr val="231F20"/>
            </a:solidFill>
          </p:spPr>
        </p:sp>
      </p:grpSp>
      <p:grpSp>
        <p:nvGrpSpPr>
          <p:cNvPr name="Group 10" id="10"/>
          <p:cNvGrpSpPr/>
          <p:nvPr/>
        </p:nvGrpSpPr>
        <p:grpSpPr>
          <a:xfrm rot="-5400000">
            <a:off x="-4114800" y="5133975"/>
            <a:ext cx="10296525" cy="9525"/>
            <a:chOff x="0" y="0"/>
            <a:chExt cx="13728700" cy="12700"/>
          </a:xfrm>
        </p:grpSpPr>
        <p:sp>
          <p:nvSpPr>
            <p:cNvPr name="Freeform 11" id="11"/>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12" id="12"/>
          <p:cNvGrpSpPr/>
          <p:nvPr/>
        </p:nvGrpSpPr>
        <p:grpSpPr>
          <a:xfrm rot="0">
            <a:off x="9753600" y="4352003"/>
            <a:ext cx="3177322" cy="5943600"/>
            <a:chOff x="0" y="0"/>
            <a:chExt cx="4236429" cy="7924800"/>
          </a:xfrm>
        </p:grpSpPr>
        <p:sp>
          <p:nvSpPr>
            <p:cNvPr name="Freeform 13" id="13"/>
            <p:cNvSpPr/>
            <p:nvPr/>
          </p:nvSpPr>
          <p:spPr>
            <a:xfrm flipH="false" flipV="false" rot="0">
              <a:off x="0" y="0"/>
              <a:ext cx="4236466" cy="7924800"/>
            </a:xfrm>
            <a:custGeom>
              <a:avLst/>
              <a:gdLst/>
              <a:ahLst/>
              <a:cxnLst/>
              <a:rect r="r" b="b" t="t" l="l"/>
              <a:pathLst>
                <a:path h="7924800" w="4236466">
                  <a:moveTo>
                    <a:pt x="0" y="0"/>
                  </a:moveTo>
                  <a:lnTo>
                    <a:pt x="4236466" y="0"/>
                  </a:lnTo>
                  <a:lnTo>
                    <a:pt x="4236466" y="7924800"/>
                  </a:lnTo>
                  <a:lnTo>
                    <a:pt x="0" y="7924800"/>
                  </a:lnTo>
                  <a:close/>
                </a:path>
              </a:pathLst>
            </a:custGeom>
            <a:solidFill>
              <a:srgbClr val="231F20"/>
            </a:solidFill>
          </p:spPr>
        </p:sp>
      </p:grpSp>
    </p:spTree>
  </p:cSld>
  <p:clrMapOvr>
    <a:masterClrMapping/>
  </p:clrMapOvr>
</p:sld>
</file>

<file path=ppt/slides/slide18.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5900758" y="4686226"/>
            <a:ext cx="6486483" cy="952649"/>
          </a:xfrm>
          <a:prstGeom prst="rect">
            <a:avLst/>
          </a:prstGeom>
        </p:spPr>
        <p:txBody>
          <a:bodyPr anchor="t" rtlCol="false" tIns="0" lIns="0" bIns="0" rIns="0">
            <a:spAutoFit/>
          </a:bodyPr>
          <a:lstStyle/>
          <a:p>
            <a:pPr algn="ctr">
              <a:lnSpc>
                <a:spcPts val="7770"/>
              </a:lnSpc>
            </a:pPr>
            <a:r>
              <a:rPr lang="en-US" sz="7000" spc="-182">
                <a:solidFill>
                  <a:srgbClr val="292727"/>
                </a:solidFill>
                <a:latin typeface="Cy Grotesk Key"/>
                <a:ea typeface="Cy Grotesk Key"/>
                <a:cs typeface="Cy Grotesk Key"/>
                <a:sym typeface="Cy Grotesk Key"/>
              </a:rPr>
              <a:t>Hipótesis</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292727"/>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4" id="4"/>
          <p:cNvGrpSpPr/>
          <p:nvPr/>
        </p:nvGrpSpPr>
        <p:grpSpPr>
          <a:xfrm rot="0">
            <a:off x="-175272" y="9253538"/>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6" id="6"/>
          <p:cNvGrpSpPr/>
          <p:nvPr/>
        </p:nvGrpSpPr>
        <p:grpSpPr>
          <a:xfrm rot="-5400000">
            <a:off x="11942919" y="5133976"/>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grpSp>
        <p:nvGrpSpPr>
          <p:cNvPr name="Group 8" id="8"/>
          <p:cNvGrpSpPr/>
          <p:nvPr/>
        </p:nvGrpSpPr>
        <p:grpSpPr>
          <a:xfrm rot="-5400000">
            <a:off x="-4114800" y="5133975"/>
            <a:ext cx="10296525" cy="9525"/>
            <a:chOff x="0" y="0"/>
            <a:chExt cx="13728700" cy="12700"/>
          </a:xfrm>
        </p:grpSpPr>
        <p:sp>
          <p:nvSpPr>
            <p:cNvPr name="Freeform 9" id="9"/>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sp>
        <p:nvSpPr>
          <p:cNvPr name="TextBox 10" id="10"/>
          <p:cNvSpPr txBox="true"/>
          <p:nvPr/>
        </p:nvSpPr>
        <p:spPr>
          <a:xfrm rot="0">
            <a:off x="6114690" y="2819400"/>
            <a:ext cx="5895265" cy="892339"/>
          </a:xfrm>
          <a:prstGeom prst="rect">
            <a:avLst/>
          </a:prstGeom>
        </p:spPr>
        <p:txBody>
          <a:bodyPr anchor="t" rtlCol="false" tIns="0" lIns="0" bIns="0" rIns="0">
            <a:spAutoFit/>
          </a:bodyPr>
          <a:lstStyle/>
          <a:p>
            <a:pPr algn="ctr">
              <a:lnSpc>
                <a:spcPts val="7103"/>
              </a:lnSpc>
            </a:pPr>
            <a:r>
              <a:rPr lang="en-US" sz="6398" spc="-165">
                <a:solidFill>
                  <a:srgbClr val="EDDED2"/>
                </a:solidFill>
                <a:latin typeface="Cy Grotesk Wide"/>
                <a:ea typeface="Cy Grotesk Wide"/>
                <a:cs typeface="Cy Grotesk Wide"/>
                <a:sym typeface="Cy Grotesk Wide"/>
              </a:rPr>
              <a:t>Hipótesis</a:t>
            </a:r>
          </a:p>
        </p:txBody>
      </p:sp>
      <p:grpSp>
        <p:nvGrpSpPr>
          <p:cNvPr name="Group 11" id="11"/>
          <p:cNvGrpSpPr/>
          <p:nvPr/>
        </p:nvGrpSpPr>
        <p:grpSpPr>
          <a:xfrm rot="0">
            <a:off x="3470838" y="4371975"/>
            <a:ext cx="11346323" cy="1963813"/>
            <a:chOff x="0" y="0"/>
            <a:chExt cx="15128431" cy="2618417"/>
          </a:xfrm>
        </p:grpSpPr>
        <p:sp>
          <p:nvSpPr>
            <p:cNvPr name="Freeform 12" id="12"/>
            <p:cNvSpPr/>
            <p:nvPr/>
          </p:nvSpPr>
          <p:spPr>
            <a:xfrm flipH="false" flipV="false" rot="0">
              <a:off x="0" y="0"/>
              <a:ext cx="15128494" cy="2618359"/>
            </a:xfrm>
            <a:custGeom>
              <a:avLst/>
              <a:gdLst/>
              <a:ahLst/>
              <a:cxnLst/>
              <a:rect r="r" b="b" t="t" l="l"/>
              <a:pathLst>
                <a:path h="2618359" w="15128494">
                  <a:moveTo>
                    <a:pt x="12700" y="0"/>
                  </a:moveTo>
                  <a:lnTo>
                    <a:pt x="15115794" y="0"/>
                  </a:lnTo>
                  <a:cubicBezTo>
                    <a:pt x="15122779" y="0"/>
                    <a:pt x="15128494" y="5715"/>
                    <a:pt x="15128494" y="12700"/>
                  </a:cubicBezTo>
                  <a:lnTo>
                    <a:pt x="15128494" y="2605659"/>
                  </a:lnTo>
                  <a:cubicBezTo>
                    <a:pt x="15128494" y="2612644"/>
                    <a:pt x="15122779" y="2618359"/>
                    <a:pt x="15115794" y="2618359"/>
                  </a:cubicBezTo>
                  <a:lnTo>
                    <a:pt x="12700" y="2618359"/>
                  </a:lnTo>
                  <a:cubicBezTo>
                    <a:pt x="5715" y="2618359"/>
                    <a:pt x="0" y="2612644"/>
                    <a:pt x="0" y="2605659"/>
                  </a:cubicBezTo>
                  <a:lnTo>
                    <a:pt x="0" y="12700"/>
                  </a:lnTo>
                  <a:cubicBezTo>
                    <a:pt x="0" y="5715"/>
                    <a:pt x="5715" y="0"/>
                    <a:pt x="12700" y="0"/>
                  </a:cubicBezTo>
                  <a:moveTo>
                    <a:pt x="12700" y="25400"/>
                  </a:moveTo>
                  <a:lnTo>
                    <a:pt x="12700" y="12700"/>
                  </a:lnTo>
                  <a:lnTo>
                    <a:pt x="25400" y="12700"/>
                  </a:lnTo>
                  <a:lnTo>
                    <a:pt x="25400" y="2605659"/>
                  </a:lnTo>
                  <a:lnTo>
                    <a:pt x="12700" y="2605659"/>
                  </a:lnTo>
                  <a:lnTo>
                    <a:pt x="12700" y="2592959"/>
                  </a:lnTo>
                  <a:lnTo>
                    <a:pt x="15115794" y="2592959"/>
                  </a:lnTo>
                  <a:lnTo>
                    <a:pt x="15115794" y="2605659"/>
                  </a:lnTo>
                  <a:lnTo>
                    <a:pt x="15103094" y="2605659"/>
                  </a:lnTo>
                  <a:lnTo>
                    <a:pt x="15103094" y="12700"/>
                  </a:lnTo>
                  <a:lnTo>
                    <a:pt x="15115794" y="12700"/>
                  </a:lnTo>
                  <a:lnTo>
                    <a:pt x="15115794" y="25400"/>
                  </a:lnTo>
                  <a:lnTo>
                    <a:pt x="12700" y="25400"/>
                  </a:lnTo>
                  <a:close/>
                </a:path>
              </a:pathLst>
            </a:custGeom>
            <a:solidFill>
              <a:srgbClr val="EDDED2"/>
            </a:solidFill>
          </p:spPr>
        </p:sp>
        <p:sp>
          <p:nvSpPr>
            <p:cNvPr name="TextBox 13" id="13"/>
            <p:cNvSpPr txBox="true"/>
            <p:nvPr/>
          </p:nvSpPr>
          <p:spPr>
            <a:xfrm>
              <a:off x="0" y="-38100"/>
              <a:ext cx="15128431" cy="2656517"/>
            </a:xfrm>
            <a:prstGeom prst="rect">
              <a:avLst/>
            </a:prstGeom>
          </p:spPr>
          <p:txBody>
            <a:bodyPr anchor="t" rtlCol="false" tIns="50800" lIns="50800" bIns="50800" rIns="50800"/>
            <a:lstStyle/>
            <a:p>
              <a:pPr algn="ctr">
                <a:lnSpc>
                  <a:spcPts val="3079"/>
                </a:lnSpc>
              </a:pPr>
              <a:r>
                <a:rPr lang="en-US" sz="2200">
                  <a:solidFill>
                    <a:srgbClr val="F6F0EB"/>
                  </a:solidFill>
                  <a:latin typeface="Cy Grotesk Key"/>
                  <a:ea typeface="Cy Grotesk Key"/>
                  <a:cs typeface="Cy Grotesk Key"/>
                  <a:sym typeface="Cy Grotesk Key"/>
                </a:rPr>
                <a:t>Los algoritmos metaheurísticos tienen la capacidad de explorar paisajes energéticos complejos con varios mínimos locales, en los que los métodos deterministas no son efectivos. </a:t>
              </a:r>
            </a:p>
            <a:p>
              <a:pPr algn="ctr">
                <a:lnSpc>
                  <a:spcPts val="3079"/>
                </a:lnSpc>
              </a:pPr>
              <a:r>
                <a:rPr lang="en-US" sz="2200">
                  <a:solidFill>
                    <a:srgbClr val="F6F0EB"/>
                  </a:solidFill>
                  <a:latin typeface="Cy Grotesk Key"/>
                  <a:ea typeface="Cy Grotesk Key"/>
                  <a:cs typeface="Cy Grotesk Key"/>
                  <a:sym typeface="Cy Grotesk Key"/>
                </a:rPr>
                <a:t>Su habilidad para adaptarse y su naturaleza estocástica posibilitan que se modelen procesos, como el mal plegamiento proteico, con más exactitud.</a:t>
              </a:r>
            </a:p>
          </p:txBody>
        </p:sp>
      </p:grpSp>
    </p:spTree>
  </p:cSld>
  <p:clrMapOvr>
    <a:masterClrMapping/>
  </p:clrMapOvr>
</p:sld>
</file>

<file path=ppt/slides/slide20.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5900758" y="4686226"/>
            <a:ext cx="6486483" cy="1013460"/>
          </a:xfrm>
          <a:prstGeom prst="rect">
            <a:avLst/>
          </a:prstGeom>
        </p:spPr>
        <p:txBody>
          <a:bodyPr anchor="t" rtlCol="false" tIns="0" lIns="0" bIns="0" rIns="0">
            <a:spAutoFit/>
          </a:bodyPr>
          <a:lstStyle/>
          <a:p>
            <a:pPr algn="ctr">
              <a:lnSpc>
                <a:spcPts val="7770"/>
              </a:lnSpc>
            </a:pPr>
            <a:r>
              <a:rPr lang="en-US" sz="7000" spc="-182">
                <a:solidFill>
                  <a:srgbClr val="292727"/>
                </a:solidFill>
                <a:latin typeface="Cy Grotesk Key"/>
                <a:ea typeface="Cy Grotesk Key"/>
                <a:cs typeface="Cy Grotesk Key"/>
                <a:sym typeface="Cy Grotesk Key"/>
              </a:rPr>
              <a:t>Diseño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92727"/>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4" id="4"/>
          <p:cNvGrpSpPr/>
          <p:nvPr/>
        </p:nvGrpSpPr>
        <p:grpSpPr>
          <a:xfrm rot="-5400000">
            <a:off x="11942919" y="5133976"/>
            <a:ext cx="10296525" cy="9525"/>
            <a:chOff x="0" y="0"/>
            <a:chExt cx="13728700" cy="12700"/>
          </a:xfrm>
        </p:grpSpPr>
        <p:sp>
          <p:nvSpPr>
            <p:cNvPr name="Freeform 5" id="5"/>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grpSp>
        <p:nvGrpSpPr>
          <p:cNvPr name="Group 6" id="6"/>
          <p:cNvGrpSpPr/>
          <p:nvPr/>
        </p:nvGrpSpPr>
        <p:grpSpPr>
          <a:xfrm rot="-5400000">
            <a:off x="-4114800" y="5133975"/>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sp>
        <p:nvSpPr>
          <p:cNvPr name="Freeform 8" id="8"/>
          <p:cNvSpPr/>
          <p:nvPr/>
        </p:nvSpPr>
        <p:spPr>
          <a:xfrm flipH="false" flipV="false" rot="0">
            <a:off x="2598571" y="1222182"/>
            <a:ext cx="13241975" cy="8805914"/>
          </a:xfrm>
          <a:custGeom>
            <a:avLst/>
            <a:gdLst/>
            <a:ahLst/>
            <a:cxnLst/>
            <a:rect r="r" b="b" t="t" l="l"/>
            <a:pathLst>
              <a:path h="8805914" w="13241975">
                <a:moveTo>
                  <a:pt x="0" y="0"/>
                </a:moveTo>
                <a:lnTo>
                  <a:pt x="13241975" y="0"/>
                </a:lnTo>
                <a:lnTo>
                  <a:pt x="13241975" y="8805913"/>
                </a:lnTo>
                <a:lnTo>
                  <a:pt x="0" y="8805913"/>
                </a:lnTo>
                <a:lnTo>
                  <a:pt x="0" y="0"/>
                </a:lnTo>
                <a:close/>
              </a:path>
            </a:pathLst>
          </a:custGeom>
          <a:blipFill>
            <a:blip r:embed="rId2"/>
            <a:stretch>
              <a:fillRect l="0" t="0" r="0" b="0"/>
            </a:stretch>
          </a:blipFill>
        </p:spPr>
      </p:sp>
      <p:sp>
        <p:nvSpPr>
          <p:cNvPr name="TextBox 9" id="9"/>
          <p:cNvSpPr txBox="true"/>
          <p:nvPr/>
        </p:nvSpPr>
        <p:spPr>
          <a:xfrm rot="0">
            <a:off x="5252812" y="304822"/>
            <a:ext cx="7933493" cy="723878"/>
          </a:xfrm>
          <a:prstGeom prst="rect">
            <a:avLst/>
          </a:prstGeom>
        </p:spPr>
        <p:txBody>
          <a:bodyPr anchor="t" rtlCol="false" tIns="0" lIns="0" bIns="0" rIns="0">
            <a:spAutoFit/>
          </a:bodyPr>
          <a:lstStyle/>
          <a:p>
            <a:pPr algn="ctr">
              <a:lnSpc>
                <a:spcPts val="5549"/>
              </a:lnSpc>
            </a:pPr>
            <a:r>
              <a:rPr lang="en-US" sz="4999" spc="-129">
                <a:solidFill>
                  <a:srgbClr val="EDDED2"/>
                </a:solidFill>
                <a:latin typeface="Cy Grotesk Wide"/>
                <a:ea typeface="Cy Grotesk Wide"/>
                <a:cs typeface="Cy Grotesk Wide"/>
                <a:sym typeface="Cy Grotesk Wide"/>
              </a:rPr>
              <a:t>Menú de Ayuda</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92727"/>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4" id="4"/>
          <p:cNvGrpSpPr/>
          <p:nvPr/>
        </p:nvGrpSpPr>
        <p:grpSpPr>
          <a:xfrm rot="-5400000">
            <a:off x="11942919" y="5133976"/>
            <a:ext cx="10296525" cy="9525"/>
            <a:chOff x="0" y="0"/>
            <a:chExt cx="13728700" cy="12700"/>
          </a:xfrm>
        </p:grpSpPr>
        <p:sp>
          <p:nvSpPr>
            <p:cNvPr name="Freeform 5" id="5"/>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grpSp>
        <p:nvGrpSpPr>
          <p:cNvPr name="Group 6" id="6"/>
          <p:cNvGrpSpPr/>
          <p:nvPr/>
        </p:nvGrpSpPr>
        <p:grpSpPr>
          <a:xfrm rot="-5400000">
            <a:off x="-4114800" y="5133975"/>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sp>
        <p:nvSpPr>
          <p:cNvPr name="Freeform 8" id="8"/>
          <p:cNvSpPr/>
          <p:nvPr/>
        </p:nvSpPr>
        <p:spPr>
          <a:xfrm flipH="false" flipV="false" rot="0">
            <a:off x="1966382" y="1243169"/>
            <a:ext cx="14719801" cy="8684683"/>
          </a:xfrm>
          <a:custGeom>
            <a:avLst/>
            <a:gdLst/>
            <a:ahLst/>
            <a:cxnLst/>
            <a:rect r="r" b="b" t="t" l="l"/>
            <a:pathLst>
              <a:path h="8684683" w="14719801">
                <a:moveTo>
                  <a:pt x="0" y="0"/>
                </a:moveTo>
                <a:lnTo>
                  <a:pt x="14719801" y="0"/>
                </a:lnTo>
                <a:lnTo>
                  <a:pt x="14719801" y="8684683"/>
                </a:lnTo>
                <a:lnTo>
                  <a:pt x="0" y="8684683"/>
                </a:lnTo>
                <a:lnTo>
                  <a:pt x="0" y="0"/>
                </a:lnTo>
                <a:close/>
              </a:path>
            </a:pathLst>
          </a:custGeom>
          <a:blipFill>
            <a:blip r:embed="rId2"/>
            <a:stretch>
              <a:fillRect l="0" t="0" r="0" b="0"/>
            </a:stretch>
          </a:blipFill>
        </p:spPr>
      </p:sp>
      <p:sp>
        <p:nvSpPr>
          <p:cNvPr name="TextBox 9" id="9"/>
          <p:cNvSpPr txBox="true"/>
          <p:nvPr/>
        </p:nvSpPr>
        <p:spPr>
          <a:xfrm rot="0">
            <a:off x="5252812" y="304822"/>
            <a:ext cx="7933493" cy="723878"/>
          </a:xfrm>
          <a:prstGeom prst="rect">
            <a:avLst/>
          </a:prstGeom>
        </p:spPr>
        <p:txBody>
          <a:bodyPr anchor="t" rtlCol="false" tIns="0" lIns="0" bIns="0" rIns="0">
            <a:spAutoFit/>
          </a:bodyPr>
          <a:lstStyle/>
          <a:p>
            <a:pPr algn="ctr">
              <a:lnSpc>
                <a:spcPts val="5549"/>
              </a:lnSpc>
            </a:pPr>
            <a:r>
              <a:rPr lang="en-US" sz="4999" spc="-129">
                <a:solidFill>
                  <a:srgbClr val="EDDED2"/>
                </a:solidFill>
                <a:latin typeface="Cy Grotesk Wide"/>
                <a:ea typeface="Cy Grotesk Wide"/>
                <a:cs typeface="Cy Grotesk Wide"/>
                <a:sym typeface="Cy Grotesk Wide"/>
              </a:rPr>
              <a:t>Panel de Análisis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92727"/>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4" id="4"/>
          <p:cNvGrpSpPr/>
          <p:nvPr/>
        </p:nvGrpSpPr>
        <p:grpSpPr>
          <a:xfrm rot="-5400000">
            <a:off x="11942919" y="5133976"/>
            <a:ext cx="10296525" cy="9525"/>
            <a:chOff x="0" y="0"/>
            <a:chExt cx="13728700" cy="12700"/>
          </a:xfrm>
        </p:grpSpPr>
        <p:sp>
          <p:nvSpPr>
            <p:cNvPr name="Freeform 5" id="5"/>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grpSp>
        <p:nvGrpSpPr>
          <p:cNvPr name="Group 6" id="6"/>
          <p:cNvGrpSpPr/>
          <p:nvPr/>
        </p:nvGrpSpPr>
        <p:grpSpPr>
          <a:xfrm rot="-5400000">
            <a:off x="-4114800" y="5133975"/>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sp>
        <p:nvSpPr>
          <p:cNvPr name="Freeform 8" id="8"/>
          <p:cNvSpPr/>
          <p:nvPr/>
        </p:nvSpPr>
        <p:spPr>
          <a:xfrm flipH="false" flipV="false" rot="0">
            <a:off x="1038226" y="1439832"/>
            <a:ext cx="16048194" cy="8124398"/>
          </a:xfrm>
          <a:custGeom>
            <a:avLst/>
            <a:gdLst/>
            <a:ahLst/>
            <a:cxnLst/>
            <a:rect r="r" b="b" t="t" l="l"/>
            <a:pathLst>
              <a:path h="8124398" w="16048194">
                <a:moveTo>
                  <a:pt x="0" y="0"/>
                </a:moveTo>
                <a:lnTo>
                  <a:pt x="16048194" y="0"/>
                </a:lnTo>
                <a:lnTo>
                  <a:pt x="16048194" y="8124398"/>
                </a:lnTo>
                <a:lnTo>
                  <a:pt x="0" y="8124398"/>
                </a:lnTo>
                <a:lnTo>
                  <a:pt x="0" y="0"/>
                </a:lnTo>
                <a:close/>
              </a:path>
            </a:pathLst>
          </a:custGeom>
          <a:blipFill>
            <a:blip r:embed="rId2"/>
            <a:stretch>
              <a:fillRect l="0" t="0" r="0" b="0"/>
            </a:stretch>
          </a:blipFill>
        </p:spPr>
      </p:sp>
      <p:sp>
        <p:nvSpPr>
          <p:cNvPr name="TextBox 9" id="9"/>
          <p:cNvSpPr txBox="true"/>
          <p:nvPr/>
        </p:nvSpPr>
        <p:spPr>
          <a:xfrm rot="0">
            <a:off x="5252812" y="304822"/>
            <a:ext cx="7933493" cy="723878"/>
          </a:xfrm>
          <a:prstGeom prst="rect">
            <a:avLst/>
          </a:prstGeom>
        </p:spPr>
        <p:txBody>
          <a:bodyPr anchor="t" rtlCol="false" tIns="0" lIns="0" bIns="0" rIns="0">
            <a:spAutoFit/>
          </a:bodyPr>
          <a:lstStyle/>
          <a:p>
            <a:pPr algn="ctr">
              <a:lnSpc>
                <a:spcPts val="5549"/>
              </a:lnSpc>
            </a:pPr>
            <a:r>
              <a:rPr lang="en-US" sz="4999" spc="-129">
                <a:solidFill>
                  <a:srgbClr val="EDDED2"/>
                </a:solidFill>
                <a:latin typeface="Cy Grotesk Wide"/>
                <a:ea typeface="Cy Grotesk Wide"/>
                <a:cs typeface="Cy Grotesk Wide"/>
                <a:sym typeface="Cy Grotesk Wide"/>
              </a:rPr>
              <a:t>Panel de Simulaciones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92727"/>
        </a:solidFill>
      </p:bgPr>
    </p:bg>
    <p:spTree>
      <p:nvGrpSpPr>
        <p:cNvPr id="1" name=""/>
        <p:cNvGrpSpPr/>
        <p:nvPr/>
      </p:nvGrpSpPr>
      <p:grpSpPr>
        <a:xfrm>
          <a:off x="0" y="0"/>
          <a:ext cx="0" cy="0"/>
          <a:chOff x="0" y="0"/>
          <a:chExt cx="0" cy="0"/>
        </a:xfrm>
      </p:grpSpPr>
      <p:grpSp>
        <p:nvGrpSpPr>
          <p:cNvPr name="Group 2" id="2"/>
          <p:cNvGrpSpPr/>
          <p:nvPr/>
        </p:nvGrpSpPr>
        <p:grpSpPr>
          <a:xfrm rot="0">
            <a:off x="-175272" y="1014412"/>
            <a:ext cx="18468035" cy="9525"/>
            <a:chOff x="0" y="0"/>
            <a:chExt cx="24624047" cy="12700"/>
          </a:xfrm>
        </p:grpSpPr>
        <p:sp>
          <p:nvSpPr>
            <p:cNvPr name="Freeform 3" id="3"/>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F6F0EB"/>
            </a:solidFill>
          </p:spPr>
        </p:sp>
      </p:grpSp>
      <p:grpSp>
        <p:nvGrpSpPr>
          <p:cNvPr name="Group 4" id="4"/>
          <p:cNvGrpSpPr/>
          <p:nvPr/>
        </p:nvGrpSpPr>
        <p:grpSpPr>
          <a:xfrm rot="-5400000">
            <a:off x="11942919" y="5133976"/>
            <a:ext cx="10296525" cy="9525"/>
            <a:chOff x="0" y="0"/>
            <a:chExt cx="13728700" cy="12700"/>
          </a:xfrm>
        </p:grpSpPr>
        <p:sp>
          <p:nvSpPr>
            <p:cNvPr name="Freeform 5" id="5"/>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grpSp>
        <p:nvGrpSpPr>
          <p:cNvPr name="Group 6" id="6"/>
          <p:cNvGrpSpPr/>
          <p:nvPr/>
        </p:nvGrpSpPr>
        <p:grpSpPr>
          <a:xfrm rot="-5400000">
            <a:off x="-4114800" y="5133975"/>
            <a:ext cx="10296525" cy="9525"/>
            <a:chOff x="0" y="0"/>
            <a:chExt cx="13728700" cy="12700"/>
          </a:xfrm>
        </p:grpSpPr>
        <p:sp>
          <p:nvSpPr>
            <p:cNvPr name="Freeform 7" id="7"/>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F6F0EB"/>
            </a:solidFill>
          </p:spPr>
        </p:sp>
      </p:grpSp>
      <p:sp>
        <p:nvSpPr>
          <p:cNvPr name="Freeform 8" id="8"/>
          <p:cNvSpPr/>
          <p:nvPr/>
        </p:nvSpPr>
        <p:spPr>
          <a:xfrm flipH="false" flipV="false" rot="0">
            <a:off x="3055088" y="1370512"/>
            <a:ext cx="12328941" cy="8399091"/>
          </a:xfrm>
          <a:custGeom>
            <a:avLst/>
            <a:gdLst/>
            <a:ahLst/>
            <a:cxnLst/>
            <a:rect r="r" b="b" t="t" l="l"/>
            <a:pathLst>
              <a:path h="8399091" w="12328941">
                <a:moveTo>
                  <a:pt x="0" y="0"/>
                </a:moveTo>
                <a:lnTo>
                  <a:pt x="12328941" y="0"/>
                </a:lnTo>
                <a:lnTo>
                  <a:pt x="12328941" y="8399091"/>
                </a:lnTo>
                <a:lnTo>
                  <a:pt x="0" y="8399091"/>
                </a:lnTo>
                <a:lnTo>
                  <a:pt x="0" y="0"/>
                </a:lnTo>
                <a:close/>
              </a:path>
            </a:pathLst>
          </a:custGeom>
          <a:blipFill>
            <a:blip r:embed="rId2"/>
            <a:stretch>
              <a:fillRect l="0" t="0" r="0" b="0"/>
            </a:stretch>
          </a:blipFill>
        </p:spPr>
      </p:sp>
      <p:sp>
        <p:nvSpPr>
          <p:cNvPr name="TextBox 9" id="9"/>
          <p:cNvSpPr txBox="true"/>
          <p:nvPr/>
        </p:nvSpPr>
        <p:spPr>
          <a:xfrm rot="0">
            <a:off x="5252812" y="304822"/>
            <a:ext cx="7933493" cy="723878"/>
          </a:xfrm>
          <a:prstGeom prst="rect">
            <a:avLst/>
          </a:prstGeom>
        </p:spPr>
        <p:txBody>
          <a:bodyPr anchor="t" rtlCol="false" tIns="0" lIns="0" bIns="0" rIns="0">
            <a:spAutoFit/>
          </a:bodyPr>
          <a:lstStyle/>
          <a:p>
            <a:pPr algn="ctr">
              <a:lnSpc>
                <a:spcPts val="5549"/>
              </a:lnSpc>
            </a:pPr>
            <a:r>
              <a:rPr lang="en-US" sz="4999" spc="-129">
                <a:solidFill>
                  <a:srgbClr val="EDDED2"/>
                </a:solidFill>
                <a:latin typeface="Cy Grotesk Wide"/>
                <a:ea typeface="Cy Grotesk Wide"/>
                <a:cs typeface="Cy Grotesk Wide"/>
                <a:sym typeface="Cy Grotesk Wide"/>
              </a:rPr>
              <a:t>Panel Principal</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4762" y="2264776"/>
            <a:ext cx="18297525" cy="9525"/>
            <a:chOff x="0" y="0"/>
            <a:chExt cx="24396700" cy="12700"/>
          </a:xfrm>
        </p:grpSpPr>
        <p:sp>
          <p:nvSpPr>
            <p:cNvPr name="Freeform 3" id="3"/>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grpSp>
        <p:nvGrpSpPr>
          <p:cNvPr name="Group 4" id="4"/>
          <p:cNvGrpSpPr/>
          <p:nvPr/>
        </p:nvGrpSpPr>
        <p:grpSpPr>
          <a:xfrm rot="0">
            <a:off x="-4762" y="8003173"/>
            <a:ext cx="18297525" cy="9525"/>
            <a:chOff x="0" y="0"/>
            <a:chExt cx="24396700" cy="12700"/>
          </a:xfrm>
        </p:grpSpPr>
        <p:sp>
          <p:nvSpPr>
            <p:cNvPr name="Freeform 5" id="5"/>
            <p:cNvSpPr/>
            <p:nvPr/>
          </p:nvSpPr>
          <p:spPr>
            <a:xfrm flipH="false" flipV="false" rot="0">
              <a:off x="6350" y="0"/>
              <a:ext cx="24384000" cy="12700"/>
            </a:xfrm>
            <a:custGeom>
              <a:avLst/>
              <a:gdLst/>
              <a:ahLst/>
              <a:cxnLst/>
              <a:rect r="r" b="b" t="t" l="l"/>
              <a:pathLst>
                <a:path h="12700" w="24384000">
                  <a:moveTo>
                    <a:pt x="0" y="0"/>
                  </a:moveTo>
                  <a:lnTo>
                    <a:pt x="24384000" y="0"/>
                  </a:lnTo>
                  <a:lnTo>
                    <a:pt x="24384000" y="12700"/>
                  </a:lnTo>
                  <a:lnTo>
                    <a:pt x="0" y="12700"/>
                  </a:lnTo>
                  <a:close/>
                </a:path>
              </a:pathLst>
            </a:custGeom>
            <a:solidFill>
              <a:srgbClr val="292727"/>
            </a:solidFill>
          </p:spPr>
        </p:sp>
      </p:grpSp>
      <p:sp>
        <p:nvSpPr>
          <p:cNvPr name="TextBox 6" id="6"/>
          <p:cNvSpPr txBox="true"/>
          <p:nvPr/>
        </p:nvSpPr>
        <p:spPr>
          <a:xfrm rot="0">
            <a:off x="3958447" y="4165282"/>
            <a:ext cx="10083356" cy="1994535"/>
          </a:xfrm>
          <a:prstGeom prst="rect">
            <a:avLst/>
          </a:prstGeom>
        </p:spPr>
        <p:txBody>
          <a:bodyPr anchor="t" rtlCol="false" tIns="0" lIns="0" bIns="0" rIns="0">
            <a:spAutoFit/>
          </a:bodyPr>
          <a:lstStyle/>
          <a:p>
            <a:pPr algn="ctr">
              <a:lnSpc>
                <a:spcPts val="7770"/>
              </a:lnSpc>
            </a:pPr>
            <a:r>
              <a:rPr lang="en-US" sz="7000" spc="-182">
                <a:solidFill>
                  <a:srgbClr val="292727"/>
                </a:solidFill>
                <a:latin typeface="Cy Grotesk Key"/>
                <a:ea typeface="Cy Grotesk Key"/>
                <a:cs typeface="Cy Grotesk Key"/>
                <a:sym typeface="Cy Grotesk Key"/>
              </a:rPr>
              <a:t>Resultados esperados y Conclusión</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7113998" y="5018197"/>
            <a:ext cx="3889495" cy="3429985"/>
            <a:chOff x="0" y="0"/>
            <a:chExt cx="5185993" cy="4573313"/>
          </a:xfrm>
        </p:grpSpPr>
        <p:sp>
          <p:nvSpPr>
            <p:cNvPr name="Freeform 3" id="3"/>
            <p:cNvSpPr/>
            <p:nvPr/>
          </p:nvSpPr>
          <p:spPr>
            <a:xfrm flipH="false" flipV="false" rot="0">
              <a:off x="0" y="0"/>
              <a:ext cx="5186045" cy="4573270"/>
            </a:xfrm>
            <a:custGeom>
              <a:avLst/>
              <a:gdLst/>
              <a:ahLst/>
              <a:cxnLst/>
              <a:rect r="r" b="b" t="t" l="l"/>
              <a:pathLst>
                <a:path h="4573270" w="5186045">
                  <a:moveTo>
                    <a:pt x="0" y="0"/>
                  </a:moveTo>
                  <a:lnTo>
                    <a:pt x="5186045" y="0"/>
                  </a:lnTo>
                  <a:lnTo>
                    <a:pt x="5186045" y="4573270"/>
                  </a:lnTo>
                  <a:lnTo>
                    <a:pt x="0" y="4573270"/>
                  </a:lnTo>
                  <a:close/>
                </a:path>
              </a:pathLst>
            </a:custGeom>
            <a:solidFill>
              <a:srgbClr val="292727"/>
            </a:solidFill>
          </p:spPr>
        </p:sp>
      </p:grpSp>
      <p:grpSp>
        <p:nvGrpSpPr>
          <p:cNvPr name="Group 4" id="4"/>
          <p:cNvGrpSpPr/>
          <p:nvPr/>
        </p:nvGrpSpPr>
        <p:grpSpPr>
          <a:xfrm rot="0">
            <a:off x="2724182" y="5018197"/>
            <a:ext cx="3889495" cy="3429985"/>
            <a:chOff x="0" y="0"/>
            <a:chExt cx="5185993" cy="4573313"/>
          </a:xfrm>
        </p:grpSpPr>
        <p:sp>
          <p:nvSpPr>
            <p:cNvPr name="Freeform 5" id="5"/>
            <p:cNvSpPr/>
            <p:nvPr/>
          </p:nvSpPr>
          <p:spPr>
            <a:xfrm flipH="false" flipV="false" rot="0">
              <a:off x="0" y="0"/>
              <a:ext cx="5186045" cy="4573270"/>
            </a:xfrm>
            <a:custGeom>
              <a:avLst/>
              <a:gdLst/>
              <a:ahLst/>
              <a:cxnLst/>
              <a:rect r="r" b="b" t="t" l="l"/>
              <a:pathLst>
                <a:path h="4573270" w="5186045">
                  <a:moveTo>
                    <a:pt x="0" y="0"/>
                  </a:moveTo>
                  <a:lnTo>
                    <a:pt x="5186045" y="0"/>
                  </a:lnTo>
                  <a:lnTo>
                    <a:pt x="5186045" y="4573270"/>
                  </a:lnTo>
                  <a:lnTo>
                    <a:pt x="0" y="4573270"/>
                  </a:lnTo>
                  <a:close/>
                </a:path>
              </a:pathLst>
            </a:custGeom>
            <a:solidFill>
              <a:srgbClr val="292727"/>
            </a:solidFill>
          </p:spPr>
        </p:sp>
      </p:grpSp>
      <p:grpSp>
        <p:nvGrpSpPr>
          <p:cNvPr name="Group 6" id="6"/>
          <p:cNvGrpSpPr/>
          <p:nvPr/>
        </p:nvGrpSpPr>
        <p:grpSpPr>
          <a:xfrm rot="0">
            <a:off x="11503814" y="5018197"/>
            <a:ext cx="3889495" cy="3429985"/>
            <a:chOff x="0" y="0"/>
            <a:chExt cx="5185993" cy="4573313"/>
          </a:xfrm>
        </p:grpSpPr>
        <p:sp>
          <p:nvSpPr>
            <p:cNvPr name="Freeform 7" id="7"/>
            <p:cNvSpPr/>
            <p:nvPr/>
          </p:nvSpPr>
          <p:spPr>
            <a:xfrm flipH="false" flipV="false" rot="0">
              <a:off x="0" y="0"/>
              <a:ext cx="5186045" cy="4573270"/>
            </a:xfrm>
            <a:custGeom>
              <a:avLst/>
              <a:gdLst/>
              <a:ahLst/>
              <a:cxnLst/>
              <a:rect r="r" b="b" t="t" l="l"/>
              <a:pathLst>
                <a:path h="4573270" w="5186045">
                  <a:moveTo>
                    <a:pt x="0" y="0"/>
                  </a:moveTo>
                  <a:lnTo>
                    <a:pt x="5186045" y="0"/>
                  </a:lnTo>
                  <a:lnTo>
                    <a:pt x="5186045" y="4573270"/>
                  </a:lnTo>
                  <a:lnTo>
                    <a:pt x="0" y="4573270"/>
                  </a:lnTo>
                  <a:close/>
                </a:path>
              </a:pathLst>
            </a:custGeom>
            <a:solidFill>
              <a:srgbClr val="292727"/>
            </a:solidFill>
          </p:spPr>
        </p:sp>
      </p:grpSp>
      <p:grpSp>
        <p:nvGrpSpPr>
          <p:cNvPr name="Group 8" id="8"/>
          <p:cNvGrpSpPr/>
          <p:nvPr/>
        </p:nvGrpSpPr>
        <p:grpSpPr>
          <a:xfrm rot="0">
            <a:off x="7113998" y="4361359"/>
            <a:ext cx="3889495" cy="656838"/>
            <a:chOff x="0" y="0"/>
            <a:chExt cx="5185993" cy="875783"/>
          </a:xfrm>
        </p:grpSpPr>
        <p:sp>
          <p:nvSpPr>
            <p:cNvPr name="Freeform 9" id="9"/>
            <p:cNvSpPr/>
            <p:nvPr/>
          </p:nvSpPr>
          <p:spPr>
            <a:xfrm flipH="false" flipV="false" rot="0">
              <a:off x="0" y="0"/>
              <a:ext cx="5186045" cy="875845"/>
            </a:xfrm>
            <a:custGeom>
              <a:avLst/>
              <a:gdLst/>
              <a:ahLst/>
              <a:cxnLst/>
              <a:rect r="r" b="b" t="t" l="l"/>
              <a:pathLst>
                <a:path h="875845" w="5186045">
                  <a:moveTo>
                    <a:pt x="0" y="0"/>
                  </a:moveTo>
                  <a:lnTo>
                    <a:pt x="5186045" y="0"/>
                  </a:lnTo>
                  <a:lnTo>
                    <a:pt x="5186045" y="875845"/>
                  </a:lnTo>
                  <a:lnTo>
                    <a:pt x="0" y="875845"/>
                  </a:lnTo>
                  <a:close/>
                </a:path>
              </a:pathLst>
            </a:custGeom>
            <a:solidFill>
              <a:srgbClr val="B8D9EF"/>
            </a:solidFill>
          </p:spPr>
        </p:sp>
      </p:grpSp>
      <p:grpSp>
        <p:nvGrpSpPr>
          <p:cNvPr name="Group 10" id="10"/>
          <p:cNvGrpSpPr/>
          <p:nvPr/>
        </p:nvGrpSpPr>
        <p:grpSpPr>
          <a:xfrm rot="0">
            <a:off x="2724182" y="4361359"/>
            <a:ext cx="3889495" cy="656838"/>
            <a:chOff x="0" y="0"/>
            <a:chExt cx="5185993" cy="875783"/>
          </a:xfrm>
        </p:grpSpPr>
        <p:sp>
          <p:nvSpPr>
            <p:cNvPr name="Freeform 11" id="11"/>
            <p:cNvSpPr/>
            <p:nvPr/>
          </p:nvSpPr>
          <p:spPr>
            <a:xfrm flipH="false" flipV="false" rot="0">
              <a:off x="0" y="0"/>
              <a:ext cx="5186045" cy="875845"/>
            </a:xfrm>
            <a:custGeom>
              <a:avLst/>
              <a:gdLst/>
              <a:ahLst/>
              <a:cxnLst/>
              <a:rect r="r" b="b" t="t" l="l"/>
              <a:pathLst>
                <a:path h="875845" w="5186045">
                  <a:moveTo>
                    <a:pt x="0" y="0"/>
                  </a:moveTo>
                  <a:lnTo>
                    <a:pt x="5186045" y="0"/>
                  </a:lnTo>
                  <a:lnTo>
                    <a:pt x="5186045" y="875845"/>
                  </a:lnTo>
                  <a:lnTo>
                    <a:pt x="0" y="875845"/>
                  </a:lnTo>
                  <a:close/>
                </a:path>
              </a:pathLst>
            </a:custGeom>
            <a:solidFill>
              <a:srgbClr val="B8D9EF"/>
            </a:solidFill>
          </p:spPr>
        </p:sp>
      </p:grpSp>
      <p:grpSp>
        <p:nvGrpSpPr>
          <p:cNvPr name="Group 12" id="12"/>
          <p:cNvGrpSpPr/>
          <p:nvPr/>
        </p:nvGrpSpPr>
        <p:grpSpPr>
          <a:xfrm rot="0">
            <a:off x="11503814" y="4361359"/>
            <a:ext cx="3889495" cy="656838"/>
            <a:chOff x="0" y="0"/>
            <a:chExt cx="5185993" cy="875783"/>
          </a:xfrm>
        </p:grpSpPr>
        <p:sp>
          <p:nvSpPr>
            <p:cNvPr name="Freeform 13" id="13"/>
            <p:cNvSpPr/>
            <p:nvPr/>
          </p:nvSpPr>
          <p:spPr>
            <a:xfrm flipH="false" flipV="false" rot="0">
              <a:off x="0" y="0"/>
              <a:ext cx="5186045" cy="875845"/>
            </a:xfrm>
            <a:custGeom>
              <a:avLst/>
              <a:gdLst/>
              <a:ahLst/>
              <a:cxnLst/>
              <a:rect r="r" b="b" t="t" l="l"/>
              <a:pathLst>
                <a:path h="875845" w="5186045">
                  <a:moveTo>
                    <a:pt x="0" y="0"/>
                  </a:moveTo>
                  <a:lnTo>
                    <a:pt x="5186045" y="0"/>
                  </a:lnTo>
                  <a:lnTo>
                    <a:pt x="5186045" y="875845"/>
                  </a:lnTo>
                  <a:lnTo>
                    <a:pt x="0" y="875845"/>
                  </a:lnTo>
                  <a:close/>
                </a:path>
              </a:pathLst>
            </a:custGeom>
            <a:solidFill>
              <a:srgbClr val="B8D9EF"/>
            </a:solidFill>
          </p:spPr>
        </p:sp>
      </p:grpSp>
      <p:sp>
        <p:nvSpPr>
          <p:cNvPr name="TextBox 14" id="14"/>
          <p:cNvSpPr txBox="true"/>
          <p:nvPr/>
        </p:nvSpPr>
        <p:spPr>
          <a:xfrm rot="0">
            <a:off x="7471052" y="5284897"/>
            <a:ext cx="3175386" cy="2736666"/>
          </a:xfrm>
          <a:prstGeom prst="rect">
            <a:avLst/>
          </a:prstGeom>
        </p:spPr>
        <p:txBody>
          <a:bodyPr anchor="t" rtlCol="false" tIns="0" lIns="0" bIns="0" rIns="0">
            <a:spAutoFit/>
          </a:bodyPr>
          <a:lstStyle/>
          <a:p>
            <a:pPr algn="ctr">
              <a:lnSpc>
                <a:spcPts val="2455"/>
              </a:lnSpc>
            </a:pPr>
            <a:r>
              <a:rPr lang="en-US" sz="1752">
                <a:solidFill>
                  <a:srgbClr val="F6F0EB"/>
                </a:solidFill>
                <a:latin typeface="Cy Grotesk Key"/>
                <a:ea typeface="Cy Grotesk Key"/>
                <a:cs typeface="Cy Grotesk Key"/>
                <a:sym typeface="Cy Grotesk Key"/>
              </a:rPr>
              <a:t>Se generan mapas energéticos y trayectorias de conversión PrPc →PrPSc para la visualización de rutas probables de conversión y zonas del paisaje energético con mayor estabilidad.</a:t>
            </a:r>
          </a:p>
        </p:txBody>
      </p:sp>
      <p:sp>
        <p:nvSpPr>
          <p:cNvPr name="TextBox 15" id="15"/>
          <p:cNvSpPr txBox="true"/>
          <p:nvPr/>
        </p:nvSpPr>
        <p:spPr>
          <a:xfrm rot="0">
            <a:off x="3081236" y="5284897"/>
            <a:ext cx="3229269" cy="1564377"/>
          </a:xfrm>
          <a:prstGeom prst="rect">
            <a:avLst/>
          </a:prstGeom>
        </p:spPr>
        <p:txBody>
          <a:bodyPr anchor="t" rtlCol="false" tIns="0" lIns="0" bIns="0" rIns="0">
            <a:spAutoFit/>
          </a:bodyPr>
          <a:lstStyle/>
          <a:p>
            <a:pPr algn="ctr">
              <a:lnSpc>
                <a:spcPts val="2494"/>
              </a:lnSpc>
            </a:pPr>
            <a:r>
              <a:rPr lang="en-US" sz="1781">
                <a:solidFill>
                  <a:srgbClr val="F6F0EB"/>
                </a:solidFill>
                <a:latin typeface="Cy Grotesk Key"/>
                <a:ea typeface="Cy Grotesk Key"/>
                <a:cs typeface="Cy Grotesk Key"/>
                <a:sym typeface="Cy Grotesk Key"/>
              </a:rPr>
              <a:t>El programa permite ejecutar experimentos reproducibles sobre procesos de plegamiento y conversión proteica.</a:t>
            </a:r>
          </a:p>
        </p:txBody>
      </p:sp>
      <p:sp>
        <p:nvSpPr>
          <p:cNvPr name="TextBox 16" id="16"/>
          <p:cNvSpPr txBox="true"/>
          <p:nvPr/>
        </p:nvSpPr>
        <p:spPr>
          <a:xfrm rot="0">
            <a:off x="11860868" y="5284897"/>
            <a:ext cx="3175386" cy="2127120"/>
          </a:xfrm>
          <a:prstGeom prst="rect">
            <a:avLst/>
          </a:prstGeom>
        </p:spPr>
        <p:txBody>
          <a:bodyPr anchor="t" rtlCol="false" tIns="0" lIns="0" bIns="0" rIns="0">
            <a:spAutoFit/>
          </a:bodyPr>
          <a:lstStyle/>
          <a:p>
            <a:pPr algn="ctr">
              <a:lnSpc>
                <a:spcPts val="2454"/>
              </a:lnSpc>
            </a:pPr>
            <a:r>
              <a:rPr lang="en-US" sz="1752">
                <a:solidFill>
                  <a:srgbClr val="F6F0EB"/>
                </a:solidFill>
                <a:latin typeface="Cy Grotesk Key"/>
                <a:ea typeface="Cy Grotesk Key"/>
                <a:cs typeface="Cy Grotesk Key"/>
                <a:sym typeface="Cy Grotesk Key"/>
              </a:rPr>
              <a:t>Se crean gráficas de energía vs. iteración, tasas de aceptación y frentes de Pareto en 2D/3D que facilitan la interpretación de los resultados.</a:t>
            </a:r>
          </a:p>
          <a:p>
            <a:pPr algn="ctr">
              <a:lnSpc>
                <a:spcPts val="2455"/>
              </a:lnSpc>
            </a:pPr>
          </a:p>
        </p:txBody>
      </p:sp>
      <p:sp>
        <p:nvSpPr>
          <p:cNvPr name="TextBox 17" id="17"/>
          <p:cNvSpPr txBox="true"/>
          <p:nvPr/>
        </p:nvSpPr>
        <p:spPr>
          <a:xfrm rot="0">
            <a:off x="2848644" y="1577802"/>
            <a:ext cx="12420203" cy="857758"/>
          </a:xfrm>
          <a:prstGeom prst="rect">
            <a:avLst/>
          </a:prstGeom>
        </p:spPr>
        <p:txBody>
          <a:bodyPr anchor="t" rtlCol="false" tIns="0" lIns="0" bIns="0" rIns="0">
            <a:spAutoFit/>
          </a:bodyPr>
          <a:lstStyle/>
          <a:p>
            <a:pPr algn="ctr">
              <a:lnSpc>
                <a:spcPts val="6526"/>
              </a:lnSpc>
            </a:pPr>
            <a:r>
              <a:rPr lang="en-US" sz="5880" spc="-152">
                <a:solidFill>
                  <a:srgbClr val="292727"/>
                </a:solidFill>
                <a:latin typeface="Cy Grotesk Wide"/>
                <a:ea typeface="Cy Grotesk Wide"/>
                <a:cs typeface="Cy Grotesk Wide"/>
                <a:sym typeface="Cy Grotesk Wide"/>
              </a:rPr>
              <a:t>Resultados esperados</a:t>
            </a:r>
          </a:p>
        </p:txBody>
      </p:sp>
      <p:grpSp>
        <p:nvGrpSpPr>
          <p:cNvPr name="Group 18" id="18"/>
          <p:cNvGrpSpPr/>
          <p:nvPr/>
        </p:nvGrpSpPr>
        <p:grpSpPr>
          <a:xfrm rot="0">
            <a:off x="5297956" y="2548069"/>
            <a:ext cx="1544660" cy="1298940"/>
            <a:chOff x="0" y="0"/>
            <a:chExt cx="2059547" cy="1731920"/>
          </a:xfrm>
        </p:grpSpPr>
        <p:sp>
          <p:nvSpPr>
            <p:cNvPr name="Freeform 19" id="19"/>
            <p:cNvSpPr/>
            <p:nvPr/>
          </p:nvSpPr>
          <p:spPr>
            <a:xfrm flipH="false" flipV="false" rot="0">
              <a:off x="6858" y="4445"/>
              <a:ext cx="2045843" cy="1723009"/>
            </a:xfrm>
            <a:custGeom>
              <a:avLst/>
              <a:gdLst/>
              <a:ahLst/>
              <a:cxnLst/>
              <a:rect r="r" b="b" t="t" l="l"/>
              <a:pathLst>
                <a:path h="1723009" w="2045843">
                  <a:moveTo>
                    <a:pt x="2045843" y="29210"/>
                  </a:moveTo>
                  <a:lnTo>
                    <a:pt x="24384" y="1723009"/>
                  </a:lnTo>
                  <a:lnTo>
                    <a:pt x="0" y="1693799"/>
                  </a:lnTo>
                  <a:lnTo>
                    <a:pt x="2021459" y="0"/>
                  </a:lnTo>
                  <a:close/>
                </a:path>
              </a:pathLst>
            </a:custGeom>
            <a:solidFill>
              <a:srgbClr val="231F20"/>
            </a:solidFill>
          </p:spPr>
        </p:sp>
      </p:grpSp>
      <p:grpSp>
        <p:nvGrpSpPr>
          <p:cNvPr name="Group 20" id="20"/>
          <p:cNvGrpSpPr/>
          <p:nvPr/>
        </p:nvGrpSpPr>
        <p:grpSpPr>
          <a:xfrm rot="0">
            <a:off x="11304790" y="2483935"/>
            <a:ext cx="1427206" cy="1427206"/>
            <a:chOff x="0" y="0"/>
            <a:chExt cx="1902941" cy="1902941"/>
          </a:xfrm>
        </p:grpSpPr>
        <p:sp>
          <p:nvSpPr>
            <p:cNvPr name="Freeform 21" id="21"/>
            <p:cNvSpPr/>
            <p:nvPr/>
          </p:nvSpPr>
          <p:spPr>
            <a:xfrm flipH="false" flipV="false" rot="0">
              <a:off x="5588" y="5588"/>
              <a:ext cx="1891792" cy="1891792"/>
            </a:xfrm>
            <a:custGeom>
              <a:avLst/>
              <a:gdLst/>
              <a:ahLst/>
              <a:cxnLst/>
              <a:rect r="r" b="b" t="t" l="l"/>
              <a:pathLst>
                <a:path h="1891792" w="1891792">
                  <a:moveTo>
                    <a:pt x="26924" y="0"/>
                  </a:moveTo>
                  <a:lnTo>
                    <a:pt x="1891792" y="1864868"/>
                  </a:lnTo>
                  <a:lnTo>
                    <a:pt x="1864868" y="1891792"/>
                  </a:lnTo>
                  <a:lnTo>
                    <a:pt x="0" y="26924"/>
                  </a:lnTo>
                  <a:close/>
                </a:path>
              </a:pathLst>
            </a:custGeom>
            <a:solidFill>
              <a:srgbClr val="231F20"/>
            </a:solidFill>
          </p:spPr>
        </p:sp>
      </p:grpSp>
      <p:grpSp>
        <p:nvGrpSpPr>
          <p:cNvPr name="Group 22" id="22"/>
          <p:cNvGrpSpPr/>
          <p:nvPr/>
        </p:nvGrpSpPr>
        <p:grpSpPr>
          <a:xfrm rot="0">
            <a:off x="9030170" y="2473833"/>
            <a:ext cx="28575" cy="1474277"/>
            <a:chOff x="0" y="0"/>
            <a:chExt cx="38100" cy="1965703"/>
          </a:xfrm>
        </p:grpSpPr>
        <p:sp>
          <p:nvSpPr>
            <p:cNvPr name="Freeform 23" id="23"/>
            <p:cNvSpPr/>
            <p:nvPr/>
          </p:nvSpPr>
          <p:spPr>
            <a:xfrm flipH="false" flipV="false" rot="0">
              <a:off x="0" y="19050"/>
              <a:ext cx="38100" cy="1927606"/>
            </a:xfrm>
            <a:custGeom>
              <a:avLst/>
              <a:gdLst/>
              <a:ahLst/>
              <a:cxnLst/>
              <a:rect r="r" b="b" t="t" l="l"/>
              <a:pathLst>
                <a:path h="1927606" w="38100">
                  <a:moveTo>
                    <a:pt x="38100" y="0"/>
                  </a:moveTo>
                  <a:lnTo>
                    <a:pt x="38100" y="1927606"/>
                  </a:lnTo>
                  <a:lnTo>
                    <a:pt x="0" y="1927606"/>
                  </a:lnTo>
                  <a:lnTo>
                    <a:pt x="0" y="0"/>
                  </a:lnTo>
                  <a:close/>
                </a:path>
              </a:pathLst>
            </a:custGeom>
            <a:solidFill>
              <a:srgbClr val="231F20"/>
            </a:solidFill>
          </p:spPr>
        </p:sp>
      </p:grpSp>
      <p:grpSp>
        <p:nvGrpSpPr>
          <p:cNvPr name="Group 24" id="24"/>
          <p:cNvGrpSpPr/>
          <p:nvPr/>
        </p:nvGrpSpPr>
        <p:grpSpPr>
          <a:xfrm rot="0">
            <a:off x="-175272" y="1014412"/>
            <a:ext cx="18468035" cy="9525"/>
            <a:chOff x="0" y="0"/>
            <a:chExt cx="24624047" cy="12700"/>
          </a:xfrm>
        </p:grpSpPr>
        <p:sp>
          <p:nvSpPr>
            <p:cNvPr name="Freeform 25" id="2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26" id="26"/>
          <p:cNvGrpSpPr/>
          <p:nvPr/>
        </p:nvGrpSpPr>
        <p:grpSpPr>
          <a:xfrm rot="0">
            <a:off x="-175272" y="9253538"/>
            <a:ext cx="18468035" cy="9525"/>
            <a:chOff x="0" y="0"/>
            <a:chExt cx="24624047" cy="12700"/>
          </a:xfrm>
        </p:grpSpPr>
        <p:sp>
          <p:nvSpPr>
            <p:cNvPr name="Freeform 27" id="27"/>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28" id="28"/>
          <p:cNvGrpSpPr/>
          <p:nvPr/>
        </p:nvGrpSpPr>
        <p:grpSpPr>
          <a:xfrm rot="-5400000">
            <a:off x="11942919" y="5133976"/>
            <a:ext cx="10296525" cy="9525"/>
            <a:chOff x="0" y="0"/>
            <a:chExt cx="13728700" cy="12700"/>
          </a:xfrm>
        </p:grpSpPr>
        <p:sp>
          <p:nvSpPr>
            <p:cNvPr name="Freeform 29" id="29"/>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30" id="30"/>
          <p:cNvGrpSpPr/>
          <p:nvPr/>
        </p:nvGrpSpPr>
        <p:grpSpPr>
          <a:xfrm rot="-5400000">
            <a:off x="-4114800" y="5133975"/>
            <a:ext cx="10296525" cy="9525"/>
            <a:chOff x="0" y="0"/>
            <a:chExt cx="13728700" cy="12700"/>
          </a:xfrm>
        </p:grpSpPr>
        <p:sp>
          <p:nvSpPr>
            <p:cNvPr name="Freeform 31" id="31"/>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spTree>
  </p:cSld>
  <p:clrMapOvr>
    <a:masterClrMapping/>
  </p:clrMapOvr>
</p:sld>
</file>

<file path=ppt/slides/slide27.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0" y="3445102"/>
            <a:ext cx="18288000" cy="6841898"/>
            <a:chOff x="0" y="0"/>
            <a:chExt cx="24384000" cy="9122531"/>
          </a:xfrm>
        </p:grpSpPr>
        <p:sp>
          <p:nvSpPr>
            <p:cNvPr name="Freeform 3" id="3"/>
            <p:cNvSpPr/>
            <p:nvPr/>
          </p:nvSpPr>
          <p:spPr>
            <a:xfrm flipH="false" flipV="false" rot="0">
              <a:off x="0" y="0"/>
              <a:ext cx="24384000" cy="9122537"/>
            </a:xfrm>
            <a:custGeom>
              <a:avLst/>
              <a:gdLst/>
              <a:ahLst/>
              <a:cxnLst/>
              <a:rect r="r" b="b" t="t" l="l"/>
              <a:pathLst>
                <a:path h="9122537" w="24384000">
                  <a:moveTo>
                    <a:pt x="0" y="0"/>
                  </a:moveTo>
                  <a:lnTo>
                    <a:pt x="24384000" y="0"/>
                  </a:lnTo>
                  <a:lnTo>
                    <a:pt x="24384000" y="9122537"/>
                  </a:lnTo>
                  <a:lnTo>
                    <a:pt x="0" y="9122537"/>
                  </a:lnTo>
                  <a:close/>
                </a:path>
              </a:pathLst>
            </a:custGeom>
            <a:solidFill>
              <a:srgbClr val="B8D9EF"/>
            </a:solidFill>
          </p:spPr>
        </p:sp>
      </p:grpSp>
      <p:grpSp>
        <p:nvGrpSpPr>
          <p:cNvPr name="Group 4" id="4"/>
          <p:cNvGrpSpPr/>
          <p:nvPr/>
        </p:nvGrpSpPr>
        <p:grpSpPr>
          <a:xfrm rot="0">
            <a:off x="-175272" y="9253538"/>
            <a:ext cx="18468035" cy="9525"/>
            <a:chOff x="0" y="0"/>
            <a:chExt cx="24624047" cy="12700"/>
          </a:xfrm>
        </p:grpSpPr>
        <p:sp>
          <p:nvSpPr>
            <p:cNvPr name="Freeform 5" id="5"/>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sp>
        <p:nvSpPr>
          <p:cNvPr name="TextBox 6" id="6"/>
          <p:cNvSpPr txBox="true"/>
          <p:nvPr/>
        </p:nvSpPr>
        <p:spPr>
          <a:xfrm rot="0">
            <a:off x="2145344" y="3959330"/>
            <a:ext cx="14333021" cy="3599179"/>
          </a:xfrm>
          <a:prstGeom prst="rect">
            <a:avLst/>
          </a:prstGeom>
        </p:spPr>
        <p:txBody>
          <a:bodyPr anchor="t" rtlCol="false" tIns="0" lIns="0" bIns="0" rIns="0">
            <a:spAutoFit/>
          </a:bodyPr>
          <a:lstStyle/>
          <a:p>
            <a:pPr algn="l">
              <a:lnSpc>
                <a:spcPts val="3218"/>
              </a:lnSpc>
            </a:pPr>
            <a:r>
              <a:rPr lang="en-US" sz="2298">
                <a:solidFill>
                  <a:srgbClr val="231F20"/>
                </a:solidFill>
                <a:latin typeface="Cy Grotesk Key"/>
                <a:ea typeface="Cy Grotesk Key"/>
                <a:cs typeface="Cy Grotesk Key"/>
                <a:sym typeface="Cy Grotesk Key"/>
              </a:rPr>
              <a:t>Con el desarrollo de MetaPrion se concluye que la conversión priónica puede explorarse mediante optimización metaheurística, y se logra generar resultados computacionales capaces de describir la dinámica de transición entre estados conformacionales e identificar configuraciones intermedias. </a:t>
            </a:r>
          </a:p>
          <a:p>
            <a:pPr algn="l">
              <a:lnSpc>
                <a:spcPts val="3218"/>
              </a:lnSpc>
            </a:pPr>
          </a:p>
          <a:p>
            <a:pPr algn="l">
              <a:lnSpc>
                <a:spcPts val="3219"/>
              </a:lnSpc>
            </a:pPr>
            <a:r>
              <a:rPr lang="en-US" sz="2298">
                <a:solidFill>
                  <a:srgbClr val="231F20"/>
                </a:solidFill>
                <a:latin typeface="Cy Grotesk Key"/>
                <a:ea typeface="Cy Grotesk Key"/>
                <a:cs typeface="Cy Grotesk Key"/>
                <a:sym typeface="Cy Grotesk Key"/>
              </a:rPr>
              <a:t>Además, el Modelo es reproducible y visual, por lo que es idóneo para fines didácticos y de optimización estocástica. Se espera que el proyecto pueda aportar evidencia cuantitativa  en conjunto con la experimentación y ensayos convencionales para el estudio del plegamiento aberrante de las proteínas. </a:t>
            </a:r>
          </a:p>
        </p:txBody>
      </p:sp>
      <p:sp>
        <p:nvSpPr>
          <p:cNvPr name="TextBox 7" id="7"/>
          <p:cNvSpPr txBox="true"/>
          <p:nvPr/>
        </p:nvSpPr>
        <p:spPr>
          <a:xfrm rot="0">
            <a:off x="4743147" y="1944853"/>
            <a:ext cx="8801705" cy="930377"/>
          </a:xfrm>
          <a:prstGeom prst="rect">
            <a:avLst/>
          </a:prstGeom>
        </p:spPr>
        <p:txBody>
          <a:bodyPr anchor="t" rtlCol="false" tIns="0" lIns="0" bIns="0" rIns="0">
            <a:spAutoFit/>
          </a:bodyPr>
          <a:lstStyle/>
          <a:p>
            <a:pPr algn="ctr">
              <a:lnSpc>
                <a:spcPts val="7103"/>
              </a:lnSpc>
            </a:pPr>
            <a:r>
              <a:rPr lang="en-US" sz="6398" spc="-165">
                <a:solidFill>
                  <a:srgbClr val="292727"/>
                </a:solidFill>
                <a:latin typeface="Cy Grotesk Wide"/>
                <a:ea typeface="Cy Grotesk Wide"/>
                <a:cs typeface="Cy Grotesk Wide"/>
                <a:sym typeface="Cy Grotesk Wide"/>
              </a:rPr>
              <a:t>Conclusión</a:t>
            </a:r>
          </a:p>
        </p:txBody>
      </p:sp>
      <p:grpSp>
        <p:nvGrpSpPr>
          <p:cNvPr name="Group 8" id="8"/>
          <p:cNvGrpSpPr/>
          <p:nvPr/>
        </p:nvGrpSpPr>
        <p:grpSpPr>
          <a:xfrm rot="0">
            <a:off x="-175272" y="1014412"/>
            <a:ext cx="18468035" cy="9525"/>
            <a:chOff x="0" y="0"/>
            <a:chExt cx="24624047" cy="12700"/>
          </a:xfrm>
        </p:grpSpPr>
        <p:sp>
          <p:nvSpPr>
            <p:cNvPr name="Freeform 9" id="9"/>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grpSp>
        <p:nvGrpSpPr>
          <p:cNvPr name="Group 10" id="10"/>
          <p:cNvGrpSpPr/>
          <p:nvPr/>
        </p:nvGrpSpPr>
        <p:grpSpPr>
          <a:xfrm rot="-5400000">
            <a:off x="11942919" y="5133976"/>
            <a:ext cx="10296525" cy="9525"/>
            <a:chOff x="0" y="0"/>
            <a:chExt cx="13728700" cy="12700"/>
          </a:xfrm>
        </p:grpSpPr>
        <p:sp>
          <p:nvSpPr>
            <p:cNvPr name="Freeform 11" id="11"/>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12" id="12"/>
          <p:cNvGrpSpPr/>
          <p:nvPr/>
        </p:nvGrpSpPr>
        <p:grpSpPr>
          <a:xfrm rot="-5400000">
            <a:off x="-4114800" y="5133975"/>
            <a:ext cx="10296525" cy="9525"/>
            <a:chOff x="0" y="0"/>
            <a:chExt cx="13728700" cy="12700"/>
          </a:xfrm>
        </p:grpSpPr>
        <p:sp>
          <p:nvSpPr>
            <p:cNvPr name="Freeform 13" id="13"/>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spTree>
  </p:cSld>
  <p:clrMapOvr>
    <a:masterClrMapping/>
  </p:clrMapOvr>
</p:sld>
</file>

<file path=ppt/slides/slide28.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514214"/>
            <a:chOff x="0" y="0"/>
            <a:chExt cx="24384000" cy="3352285"/>
          </a:xfrm>
        </p:grpSpPr>
        <p:sp>
          <p:nvSpPr>
            <p:cNvPr name="Freeform 3" id="3"/>
            <p:cNvSpPr/>
            <p:nvPr/>
          </p:nvSpPr>
          <p:spPr>
            <a:xfrm flipH="false" flipV="false" rot="0">
              <a:off x="0" y="0"/>
              <a:ext cx="24384000" cy="3352292"/>
            </a:xfrm>
            <a:custGeom>
              <a:avLst/>
              <a:gdLst/>
              <a:ahLst/>
              <a:cxnLst/>
              <a:rect r="r" b="b" t="t" l="l"/>
              <a:pathLst>
                <a:path h="3352292" w="24384000">
                  <a:moveTo>
                    <a:pt x="0" y="0"/>
                  </a:moveTo>
                  <a:lnTo>
                    <a:pt x="24384000" y="0"/>
                  </a:lnTo>
                  <a:lnTo>
                    <a:pt x="24384000" y="3352292"/>
                  </a:lnTo>
                  <a:lnTo>
                    <a:pt x="0" y="3352292"/>
                  </a:lnTo>
                  <a:close/>
                </a:path>
              </a:pathLst>
            </a:custGeom>
            <a:solidFill>
              <a:srgbClr val="292727"/>
            </a:solidFill>
          </p:spPr>
        </p:sp>
      </p:grpSp>
      <p:sp>
        <p:nvSpPr>
          <p:cNvPr name="TextBox 4" id="4"/>
          <p:cNvSpPr txBox="true"/>
          <p:nvPr/>
        </p:nvSpPr>
        <p:spPr>
          <a:xfrm rot="0">
            <a:off x="1491207" y="1333307"/>
            <a:ext cx="15305586" cy="768877"/>
          </a:xfrm>
          <a:prstGeom prst="rect">
            <a:avLst/>
          </a:prstGeom>
        </p:spPr>
        <p:txBody>
          <a:bodyPr anchor="t" rtlCol="false" tIns="0" lIns="0" bIns="0" rIns="0">
            <a:spAutoFit/>
          </a:bodyPr>
          <a:lstStyle/>
          <a:p>
            <a:pPr algn="ctr">
              <a:lnSpc>
                <a:spcPts val="6216"/>
              </a:lnSpc>
            </a:pPr>
            <a:r>
              <a:rPr lang="en-US" sz="5599" spc="-144">
                <a:solidFill>
                  <a:srgbClr val="EDDED2"/>
                </a:solidFill>
                <a:latin typeface="Cy Grotesk Wide"/>
                <a:ea typeface="Cy Grotesk Wide"/>
                <a:cs typeface="Cy Grotesk Wide"/>
                <a:sym typeface="Cy Grotesk Wide"/>
              </a:rPr>
              <a:t>Referencias bibliográficas</a:t>
            </a:r>
          </a:p>
        </p:txBody>
      </p:sp>
      <p:sp>
        <p:nvSpPr>
          <p:cNvPr name="TextBox 5" id="5"/>
          <p:cNvSpPr txBox="true"/>
          <p:nvPr/>
        </p:nvSpPr>
        <p:spPr>
          <a:xfrm rot="0">
            <a:off x="243840" y="2788920"/>
            <a:ext cx="17571720" cy="7240965"/>
          </a:xfrm>
          <a:prstGeom prst="rect">
            <a:avLst/>
          </a:prstGeom>
        </p:spPr>
        <p:txBody>
          <a:bodyPr anchor="t" rtlCol="false" tIns="0" lIns="0" bIns="0" rIns="0">
            <a:spAutoFit/>
          </a:bodyPr>
          <a:lstStyle/>
          <a:p>
            <a:pPr algn="l">
              <a:lnSpc>
                <a:spcPts val="2160"/>
              </a:lnSpc>
            </a:pPr>
            <a:r>
              <a:rPr lang="en-US" sz="1800">
                <a:solidFill>
                  <a:srgbClr val="000000"/>
                </a:solidFill>
                <a:latin typeface="Calibri (MS)"/>
                <a:ea typeface="Calibri (MS)"/>
                <a:cs typeface="Calibri (MS)"/>
                <a:sym typeface="Calibri (MS)"/>
              </a:rPr>
              <a:t>[1] S. Prusiner, “Prions,” Proceedings of the National Academy of Sciences, vol. 95, no. 23, pp. 13363–13383, 1998.</a:t>
            </a:r>
          </a:p>
          <a:p>
            <a:pPr algn="l">
              <a:lnSpc>
                <a:spcPts val="2160"/>
              </a:lnSpc>
            </a:pPr>
            <a:r>
              <a:rPr lang="en-US" sz="1800">
                <a:solidFill>
                  <a:srgbClr val="000000"/>
                </a:solidFill>
                <a:latin typeface="Calibri (MS)"/>
                <a:ea typeface="Calibri (MS)"/>
                <a:cs typeface="Calibri (MS)"/>
                <a:sym typeface="Calibri (MS)"/>
              </a:rPr>
              <a:t>[2] C. Soto, “Prion hypothesis: the end of the controversy?,” Trends in Biochemical Sciences, vol. 36, no. 3, pp. 151–158, 2011.</a:t>
            </a:r>
          </a:p>
          <a:p>
            <a:pPr algn="l">
              <a:lnSpc>
                <a:spcPts val="2160"/>
              </a:lnSpc>
            </a:pPr>
            <a:r>
              <a:rPr lang="en-US" sz="1800">
                <a:solidFill>
                  <a:srgbClr val="000000"/>
                </a:solidFill>
                <a:latin typeface="Calibri (MS)"/>
                <a:ea typeface="Calibri (MS)"/>
                <a:cs typeface="Calibri (MS)"/>
                <a:sym typeface="Calibri (MS)"/>
              </a:rPr>
              <a:t>[3] K. Wadsworth et al., “Human prion diseases: epidemiology and pathogenesis,” Brain Pathology, vol. 18, no. 1, pp. 2–12, 2008.</a:t>
            </a:r>
          </a:p>
          <a:p>
            <a:pPr algn="l">
              <a:lnSpc>
                <a:spcPts val="2160"/>
              </a:lnSpc>
            </a:pPr>
            <a:r>
              <a:rPr lang="en-US" sz="1800">
                <a:solidFill>
                  <a:srgbClr val="000000"/>
                </a:solidFill>
                <a:latin typeface="Calibri (MS)"/>
                <a:ea typeface="Calibri (MS)"/>
                <a:cs typeface="Calibri (MS)"/>
                <a:sym typeface="Calibri (MS)"/>
              </a:rPr>
              <a:t>[4] R. Zahn et al., “NMR solution structure of the human prion protein,” PNAS, vol. 97, no. 1, pp. 145–150, 2000.</a:t>
            </a:r>
          </a:p>
          <a:p>
            <a:pPr algn="l">
              <a:lnSpc>
                <a:spcPts val="2160"/>
              </a:lnSpc>
            </a:pPr>
            <a:r>
              <a:rPr lang="en-US" sz="1800">
                <a:solidFill>
                  <a:srgbClr val="000000"/>
                </a:solidFill>
                <a:latin typeface="Calibri (MS)"/>
                <a:ea typeface="Calibri (MS)"/>
                <a:cs typeface="Calibri (MS)"/>
                <a:sym typeface="Calibri (MS)"/>
              </a:rPr>
              <a:t>[5] S. J. Collins et al., “Prion diseases of humans and animals: their causes and molecular basis,” Annual Review of Neuroscience, vol. 24, pp. 519–550, 2001.</a:t>
            </a:r>
          </a:p>
          <a:p>
            <a:pPr algn="l">
              <a:lnSpc>
                <a:spcPts val="2160"/>
              </a:lnSpc>
            </a:pPr>
            <a:r>
              <a:rPr lang="en-US" sz="1800">
                <a:solidFill>
                  <a:srgbClr val="000000"/>
                </a:solidFill>
                <a:latin typeface="Calibri (MS)"/>
                <a:ea typeface="Calibri (MS)"/>
                <a:cs typeface="Calibri (MS)"/>
                <a:sym typeface="Calibri (MS)"/>
              </a:rPr>
              <a:t>[6] C. Büeler et al., “High prion and PrPSc levels but delayed onset of disease in scrapie-inoculated mice heterozygous for a disrupted PrP gene,” Molecular Medicine, vol. 1, no. 1, pp. 19–30, 1995.</a:t>
            </a:r>
          </a:p>
          <a:p>
            <a:pPr algn="l">
              <a:lnSpc>
                <a:spcPts val="2160"/>
              </a:lnSpc>
            </a:pPr>
            <a:r>
              <a:rPr lang="en-US" sz="1800">
                <a:solidFill>
                  <a:srgbClr val="000000"/>
                </a:solidFill>
                <a:latin typeface="Calibri (MS)"/>
                <a:ea typeface="Calibri (MS)"/>
                <a:cs typeface="Calibri (MS)"/>
                <a:sym typeface="Calibri (MS)"/>
              </a:rPr>
              <a:t>[7] H. Kraus et al., “Cryo-EM structure of infectious prions,” Nature Structural &amp; Molecular Biology, vol. 28, pp. 1072–1081, 2021.</a:t>
            </a:r>
          </a:p>
          <a:p>
            <a:pPr algn="l">
              <a:lnSpc>
                <a:spcPts val="2160"/>
              </a:lnSpc>
            </a:pPr>
            <a:r>
              <a:rPr lang="en-US" sz="1800">
                <a:solidFill>
                  <a:srgbClr val="000000"/>
                </a:solidFill>
                <a:latin typeface="Calibri (MS)"/>
                <a:ea typeface="Calibri (MS)"/>
                <a:cs typeface="Calibri (MS)"/>
                <a:sym typeface="Calibri (MS)"/>
              </a:rPr>
              <a:t>[8] M. T. Colby and S. Prusiner, “Prions,” Cold Spring Harbor Perspectives in Biology, vol. 3, no. 1, 2011.</a:t>
            </a:r>
          </a:p>
          <a:p>
            <a:pPr algn="l">
              <a:lnSpc>
                <a:spcPts val="2160"/>
              </a:lnSpc>
            </a:pPr>
            <a:r>
              <a:rPr lang="en-US" sz="1800">
                <a:solidFill>
                  <a:srgbClr val="000000"/>
                </a:solidFill>
                <a:latin typeface="Calibri (MS)"/>
                <a:ea typeface="Calibri (MS)"/>
                <a:cs typeface="Calibri (MS)"/>
                <a:sym typeface="Calibri (MS)"/>
              </a:rPr>
              <a:t>[9] A. Singh et al., “Computational modeling of prion propagation,” Biophysical Journal, vol. 114, no. 5, pp. 1007–1016, 2018.</a:t>
            </a:r>
          </a:p>
          <a:p>
            <a:pPr algn="l">
              <a:lnSpc>
                <a:spcPts val="2160"/>
              </a:lnSpc>
            </a:pPr>
            <a:r>
              <a:rPr lang="en-US" sz="1800">
                <a:solidFill>
                  <a:srgbClr val="000000"/>
                </a:solidFill>
                <a:latin typeface="Calibri (MS)"/>
                <a:ea typeface="Calibri (MS)"/>
                <a:cs typeface="Calibri (MS)"/>
                <a:sym typeface="Calibri (MS)"/>
              </a:rPr>
              <a:t>[10] J. A. McCammon and B. R. Gelin, “Dynamics of folded proteins,” Nature, vol. 267, pp. 585–590, 1977.</a:t>
            </a:r>
          </a:p>
          <a:p>
            <a:pPr algn="l">
              <a:lnSpc>
                <a:spcPts val="2160"/>
              </a:lnSpc>
            </a:pPr>
            <a:r>
              <a:rPr lang="en-US" sz="1800">
                <a:solidFill>
                  <a:srgbClr val="000000"/>
                </a:solidFill>
                <a:latin typeface="Calibri (MS)"/>
                <a:ea typeface="Calibri (MS)"/>
                <a:cs typeface="Calibri (MS)"/>
                <a:sym typeface="Calibri (MS)"/>
              </a:rPr>
              <a:t>[11] B. Berendsen et al., Molecular Dynamics Simulation: The GROMOS Method, Springer, 1984.</a:t>
            </a:r>
          </a:p>
          <a:p>
            <a:pPr algn="l">
              <a:lnSpc>
                <a:spcPts val="2160"/>
              </a:lnSpc>
            </a:pPr>
            <a:r>
              <a:rPr lang="en-US" sz="1800">
                <a:solidFill>
                  <a:srgbClr val="000000"/>
                </a:solidFill>
                <a:latin typeface="Calibri (MS)"/>
                <a:ea typeface="Calibri (MS)"/>
                <a:cs typeface="Calibri (MS)"/>
                <a:sym typeface="Calibri (MS)"/>
              </a:rPr>
              <a:t>[12] G. Bussi and M. Parrinello, “Metadynamics: a method to simulate rare events and reconstruct free energy in biophysics,” Nature Reviews Physics, vol. 2, pp. 200–212, 2020.</a:t>
            </a:r>
          </a:p>
          <a:p>
            <a:pPr algn="l">
              <a:lnSpc>
                <a:spcPts val="2160"/>
              </a:lnSpc>
            </a:pPr>
            <a:r>
              <a:rPr lang="en-US" sz="1800">
                <a:solidFill>
                  <a:srgbClr val="000000"/>
                </a:solidFill>
                <a:latin typeface="Calibri (MS)"/>
                <a:ea typeface="Calibri (MS)"/>
                <a:cs typeface="Calibri (MS)"/>
                <a:sym typeface="Calibri (MS)"/>
              </a:rPr>
              <a:t>[13] E. Alba and B. Dorronsoro, Metaheuristics in Bioinformatics: Optimization of Biological Systems, Wiley, 2008.</a:t>
            </a:r>
          </a:p>
          <a:p>
            <a:pPr algn="l">
              <a:lnSpc>
                <a:spcPts val="2160"/>
              </a:lnSpc>
            </a:pPr>
            <a:r>
              <a:rPr lang="en-US" sz="1800">
                <a:solidFill>
                  <a:srgbClr val="000000"/>
                </a:solidFill>
                <a:latin typeface="Calibri (MS)"/>
                <a:ea typeface="Calibri (MS)"/>
                <a:cs typeface="Calibri (MS)"/>
                <a:sym typeface="Calibri (MS)"/>
              </a:rPr>
              <a:t>[14] M. Dorigo and T. Stützle, Ant Colony Optimization, MIT Press, 2004.</a:t>
            </a:r>
          </a:p>
          <a:p>
            <a:pPr algn="l">
              <a:lnSpc>
                <a:spcPts val="2160"/>
              </a:lnSpc>
            </a:pPr>
            <a:r>
              <a:rPr lang="en-US" sz="1800">
                <a:solidFill>
                  <a:srgbClr val="000000"/>
                </a:solidFill>
                <a:latin typeface="Calibri (MS)"/>
                <a:ea typeface="Calibri (MS)"/>
                <a:cs typeface="Calibri (MS)"/>
                <a:sym typeface="Calibri (MS)"/>
              </a:rPr>
              <a:t>[15] P. Merz and B. Freisleben, “Fitness landscape analysis and memetic algorithms for the quadratic assignment problem,” IEEE Transactions on Evolutionary Computation, vol. 4, no. 4, pp. 337–352, 2000.</a:t>
            </a:r>
          </a:p>
          <a:p>
            <a:pPr algn="l">
              <a:lnSpc>
                <a:spcPts val="2160"/>
              </a:lnSpc>
            </a:pPr>
            <a:r>
              <a:rPr lang="en-US" sz="1800">
                <a:solidFill>
                  <a:srgbClr val="000000"/>
                </a:solidFill>
                <a:latin typeface="Calibri (MS)"/>
                <a:ea typeface="Calibri (MS)"/>
                <a:cs typeface="Calibri (MS)"/>
                <a:sym typeface="Calibri (MS)"/>
              </a:rPr>
              <a:t>[16] S. Kirkpatrick, C. D. Gelatt, and M. P. Vecchi, “Optimization by Simulated Annealing,” Science, vol. 220, no. 4598, pp. 671–680, 1983.</a:t>
            </a:r>
          </a:p>
          <a:p>
            <a:pPr algn="l">
              <a:lnSpc>
                <a:spcPts val="2160"/>
              </a:lnSpc>
            </a:pPr>
            <a:r>
              <a:rPr lang="en-US" sz="1800">
                <a:solidFill>
                  <a:srgbClr val="000000"/>
                </a:solidFill>
                <a:latin typeface="Calibri (MS)"/>
                <a:ea typeface="Calibri (MS)"/>
                <a:cs typeface="Calibri (MS)"/>
                <a:sym typeface="Calibri (MS)"/>
              </a:rPr>
              <a:t>[17] J. Holland, Adaptation in Natural and Artificial Systems, University of Michigan Press, 1975.</a:t>
            </a:r>
          </a:p>
          <a:p>
            <a:pPr algn="l">
              <a:lnSpc>
                <a:spcPts val="2160"/>
              </a:lnSpc>
            </a:pPr>
            <a:r>
              <a:rPr lang="en-US" sz="1800">
                <a:solidFill>
                  <a:srgbClr val="000000"/>
                </a:solidFill>
                <a:latin typeface="Calibri (MS)"/>
                <a:ea typeface="Calibri (MS)"/>
                <a:cs typeface="Calibri (MS)"/>
                <a:sym typeface="Calibri (MS)"/>
              </a:rPr>
              <a:t>[18] J. Kennedy and R. Eberhart, “Particle Swarm Optimization,” Proc. IEEE Int. Conf. Neural Networks, 1995, pp. 1942–1948.</a:t>
            </a:r>
          </a:p>
          <a:p>
            <a:pPr algn="l">
              <a:lnSpc>
                <a:spcPts val="2160"/>
              </a:lnSpc>
            </a:pPr>
            <a:r>
              <a:rPr lang="en-US" sz="1800">
                <a:solidFill>
                  <a:srgbClr val="000000"/>
                </a:solidFill>
                <a:latin typeface="Calibri (MS)"/>
                <a:ea typeface="Calibri (MS)"/>
                <a:cs typeface="Calibri (MS)"/>
                <a:sym typeface="Calibri (MS)"/>
              </a:rPr>
              <a:t>[19] K. Deb et al., “A Fast and Elitist Multiobjective Genetic Algorithm: NSGA-II,” IEEE Transactions on Evolutionary Computation, vol. 6, no. 2, pp. 182–197, 2002.</a:t>
            </a:r>
          </a:p>
          <a:p>
            <a:pPr algn="l">
              <a:lnSpc>
                <a:spcPts val="2160"/>
              </a:lnSpc>
            </a:pPr>
            <a:r>
              <a:rPr lang="en-US" sz="1800">
                <a:solidFill>
                  <a:srgbClr val="000000"/>
                </a:solidFill>
                <a:latin typeface="Calibri (MS)"/>
                <a:ea typeface="Calibri (MS)"/>
                <a:cs typeface="Calibri (MS)"/>
                <a:sym typeface="Calibri (MS)"/>
              </a:rPr>
              <a:t>[20] T. Bäck, D. Fogel, and Z. Michalewicz, Handbook of Evolutionary Computation, IOP Publishing, 1997.</a:t>
            </a:r>
          </a:p>
          <a:p>
            <a:pPr algn="l">
              <a:lnSpc>
                <a:spcPts val="2160"/>
              </a:lnSpc>
            </a:pPr>
            <a:r>
              <a:rPr lang="en-US" sz="1800">
                <a:solidFill>
                  <a:srgbClr val="000000"/>
                </a:solidFill>
                <a:latin typeface="Calibri (MS)"/>
                <a:ea typeface="Calibri (MS)"/>
                <a:cs typeface="Calibri (MS)"/>
                <a:sym typeface="Calibri (MS)"/>
              </a:rPr>
              <a:t>[21] X. Li et al., “Protein folding optimization using genetic algorithms and coarse-grained models,” Journal of Computational Chemistry, vol. 40, no. 2, pp. 145–156, 2019.</a:t>
            </a:r>
          </a:p>
          <a:p>
            <a:pPr algn="l">
              <a:lnSpc>
                <a:spcPts val="2160"/>
              </a:lnSpc>
            </a:pPr>
            <a:r>
              <a:rPr lang="en-US" sz="1800">
                <a:solidFill>
                  <a:srgbClr val="000000"/>
                </a:solidFill>
                <a:latin typeface="Calibri (MS)"/>
                <a:ea typeface="Calibri (MS)"/>
                <a:cs typeface="Calibri (MS)"/>
                <a:sym typeface="Calibri (MS)"/>
              </a:rPr>
              <a:t>[22] R. Rajasekaran and S. Vijayakumar, “Particle Swarm Optimization for protein structure prediction,” Bioinformatics, vol. 35, no. 17, pp. 3050–3058, 2019.</a:t>
            </a:r>
          </a:p>
          <a:p>
            <a:pPr algn="l">
              <a:lnSpc>
                <a:spcPts val="2160"/>
              </a:lnSpc>
            </a:pPr>
            <a:r>
              <a:rPr lang="en-US" sz="1800">
                <a:solidFill>
                  <a:srgbClr val="000000"/>
                </a:solidFill>
                <a:latin typeface="Calibri (MS)"/>
                <a:ea typeface="Calibri (MS)"/>
                <a:cs typeface="Calibri (MS)"/>
                <a:sym typeface="Calibri (MS)"/>
              </a:rPr>
              <a:t>[23] L. Zeng et al., “Multiobjective optimization for protein structure prediction using NSGA-II,” Computational Biology and Chemistry, vol. 85, pp. 107–118, 2020.</a:t>
            </a:r>
          </a:p>
          <a:p>
            <a:pPr algn="l">
              <a:lnSpc>
                <a:spcPts val="2160"/>
              </a:lnSpc>
            </a:pPr>
            <a:r>
              <a:rPr lang="en-US" sz="1800">
                <a:solidFill>
                  <a:srgbClr val="000000"/>
                </a:solidFill>
                <a:latin typeface="Calibri (MS)"/>
                <a:ea typeface="Calibri (MS)"/>
                <a:cs typeface="Calibri (MS)"/>
                <a:sym typeface="Calibri (MS)"/>
              </a:rPr>
              <a:t>[24] H. A. Lashuel et al., “The many faces of α-synuclein aggregation: from Parkinson’s disease to prion-like disorders,” Nature Reviews Neuroscience, vol. 14, no. 1, pp. 38–48, 2013.</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6F0EB"/>
        </a:solidFill>
      </p:bgPr>
    </p:bg>
    <p:spTree>
      <p:nvGrpSpPr>
        <p:cNvPr id="1" name=""/>
        <p:cNvGrpSpPr/>
        <p:nvPr/>
      </p:nvGrpSpPr>
      <p:grpSpPr>
        <a:xfrm>
          <a:off x="0" y="0"/>
          <a:ext cx="0" cy="0"/>
          <a:chOff x="0" y="0"/>
          <a:chExt cx="0" cy="0"/>
        </a:xfrm>
      </p:grpSpPr>
      <p:grpSp>
        <p:nvGrpSpPr>
          <p:cNvPr name="Group 2" id="2"/>
          <p:cNvGrpSpPr/>
          <p:nvPr/>
        </p:nvGrpSpPr>
        <p:grpSpPr>
          <a:xfrm rot="-5400000">
            <a:off x="11942919" y="5133976"/>
            <a:ext cx="10296525" cy="9525"/>
            <a:chOff x="0" y="0"/>
            <a:chExt cx="13728700" cy="12700"/>
          </a:xfrm>
        </p:grpSpPr>
        <p:sp>
          <p:nvSpPr>
            <p:cNvPr name="Freeform 3" id="3"/>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4" id="4"/>
          <p:cNvGrpSpPr/>
          <p:nvPr/>
        </p:nvGrpSpPr>
        <p:grpSpPr>
          <a:xfrm rot="-5400000">
            <a:off x="-4114800" y="5133975"/>
            <a:ext cx="10296525" cy="9525"/>
            <a:chOff x="0" y="0"/>
            <a:chExt cx="13728700" cy="12700"/>
          </a:xfrm>
        </p:grpSpPr>
        <p:sp>
          <p:nvSpPr>
            <p:cNvPr name="Freeform 5" id="5"/>
            <p:cNvSpPr/>
            <p:nvPr/>
          </p:nvSpPr>
          <p:spPr>
            <a:xfrm flipH="false" flipV="false" rot="0">
              <a:off x="6350" y="0"/>
              <a:ext cx="13716000" cy="12700"/>
            </a:xfrm>
            <a:custGeom>
              <a:avLst/>
              <a:gdLst/>
              <a:ahLst/>
              <a:cxnLst/>
              <a:rect r="r" b="b" t="t" l="l"/>
              <a:pathLst>
                <a:path h="12700" w="13716000">
                  <a:moveTo>
                    <a:pt x="0" y="0"/>
                  </a:moveTo>
                  <a:lnTo>
                    <a:pt x="13716000" y="0"/>
                  </a:lnTo>
                  <a:lnTo>
                    <a:pt x="13716000" y="12700"/>
                  </a:lnTo>
                  <a:lnTo>
                    <a:pt x="0" y="12700"/>
                  </a:lnTo>
                  <a:close/>
                </a:path>
              </a:pathLst>
            </a:custGeom>
            <a:solidFill>
              <a:srgbClr val="292727"/>
            </a:solidFill>
          </p:spPr>
        </p:sp>
      </p:grpSp>
      <p:grpSp>
        <p:nvGrpSpPr>
          <p:cNvPr name="Group 6" id="6"/>
          <p:cNvGrpSpPr/>
          <p:nvPr/>
        </p:nvGrpSpPr>
        <p:grpSpPr>
          <a:xfrm rot="0">
            <a:off x="0" y="0"/>
            <a:ext cx="18288000" cy="5026002"/>
            <a:chOff x="0" y="0"/>
            <a:chExt cx="24384000" cy="6701336"/>
          </a:xfrm>
        </p:grpSpPr>
        <p:sp>
          <p:nvSpPr>
            <p:cNvPr name="Freeform 7" id="7"/>
            <p:cNvSpPr/>
            <p:nvPr/>
          </p:nvSpPr>
          <p:spPr>
            <a:xfrm flipH="false" flipV="false" rot="0">
              <a:off x="0" y="0"/>
              <a:ext cx="24384000" cy="6701282"/>
            </a:xfrm>
            <a:custGeom>
              <a:avLst/>
              <a:gdLst/>
              <a:ahLst/>
              <a:cxnLst/>
              <a:rect r="r" b="b" t="t" l="l"/>
              <a:pathLst>
                <a:path h="6701282" w="24384000">
                  <a:moveTo>
                    <a:pt x="0" y="0"/>
                  </a:moveTo>
                  <a:lnTo>
                    <a:pt x="24384000" y="0"/>
                  </a:lnTo>
                  <a:lnTo>
                    <a:pt x="24384000" y="6701282"/>
                  </a:lnTo>
                  <a:lnTo>
                    <a:pt x="0" y="6701282"/>
                  </a:lnTo>
                  <a:close/>
                </a:path>
              </a:pathLst>
            </a:custGeom>
            <a:solidFill>
              <a:srgbClr val="292727"/>
            </a:solidFill>
          </p:spPr>
        </p:sp>
      </p:grpSp>
      <p:sp>
        <p:nvSpPr>
          <p:cNvPr name="TextBox 8" id="8"/>
          <p:cNvSpPr txBox="true"/>
          <p:nvPr/>
        </p:nvSpPr>
        <p:spPr>
          <a:xfrm rot="0">
            <a:off x="3374751" y="3100182"/>
            <a:ext cx="11538498" cy="912387"/>
          </a:xfrm>
          <a:prstGeom prst="rect">
            <a:avLst/>
          </a:prstGeom>
        </p:spPr>
        <p:txBody>
          <a:bodyPr anchor="t" rtlCol="false" tIns="0" lIns="0" bIns="0" rIns="0">
            <a:spAutoFit/>
          </a:bodyPr>
          <a:lstStyle/>
          <a:p>
            <a:pPr algn="ctr">
              <a:lnSpc>
                <a:spcPts val="7696"/>
              </a:lnSpc>
            </a:pPr>
            <a:r>
              <a:rPr lang="en-US" sz="7400" spc="-192">
                <a:solidFill>
                  <a:srgbClr val="EDDED2"/>
                </a:solidFill>
                <a:latin typeface="Cy Grotesk Wide"/>
                <a:ea typeface="Cy Grotesk Wide"/>
                <a:cs typeface="Cy Grotesk Wide"/>
                <a:sym typeface="Cy Grotesk Wide"/>
              </a:rPr>
              <a:t>Muchas gracias</a:t>
            </a:r>
          </a:p>
        </p:txBody>
      </p:sp>
      <p:grpSp>
        <p:nvGrpSpPr>
          <p:cNvPr name="Group 9" id="9"/>
          <p:cNvGrpSpPr/>
          <p:nvPr/>
        </p:nvGrpSpPr>
        <p:grpSpPr>
          <a:xfrm rot="0">
            <a:off x="-175272" y="9253538"/>
            <a:ext cx="18468035" cy="9525"/>
            <a:chOff x="0" y="0"/>
            <a:chExt cx="24624047" cy="12700"/>
          </a:xfrm>
        </p:grpSpPr>
        <p:sp>
          <p:nvSpPr>
            <p:cNvPr name="Freeform 10" id="10"/>
            <p:cNvSpPr/>
            <p:nvPr/>
          </p:nvSpPr>
          <p:spPr>
            <a:xfrm flipH="false" flipV="false" rot="0">
              <a:off x="6350" y="0"/>
              <a:ext cx="24611330" cy="12700"/>
            </a:xfrm>
            <a:custGeom>
              <a:avLst/>
              <a:gdLst/>
              <a:ahLst/>
              <a:cxnLst/>
              <a:rect r="r" b="b" t="t" l="l"/>
              <a:pathLst>
                <a:path h="12700" w="24611330">
                  <a:moveTo>
                    <a:pt x="0" y="0"/>
                  </a:moveTo>
                  <a:lnTo>
                    <a:pt x="24611330" y="0"/>
                  </a:lnTo>
                  <a:lnTo>
                    <a:pt x="24611330" y="12700"/>
                  </a:lnTo>
                  <a:lnTo>
                    <a:pt x="0" y="12700"/>
                  </a:lnTo>
                  <a:close/>
                </a:path>
              </a:pathLst>
            </a:custGeom>
            <a:solidFill>
              <a:srgbClr val="292727"/>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DAG4QXXm8sI</dc:identifier>
  <dcterms:modified xsi:type="dcterms:W3CDTF">2011-08-01T06:04:30Z</dcterms:modified>
  <cp:revision>1</cp:revision>
  <dc:title>Presentación MetaPrion.pptx</dc:title>
</cp:coreProperties>
</file>